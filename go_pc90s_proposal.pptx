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57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26209F-F93B-4225-911D-6D611D0F4041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C4BDBA-E205-4571-9D88-3F0B8A80DF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581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C4BDBA-E205-4571-9D88-3F0B8A80DF0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105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C4BDBA-E205-4571-9D88-3F0B8A80DF0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845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C4BDBA-E205-4571-9D88-3F0B8A80DF0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140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8952" y="585216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0">
                <a:solidFill>
                  <a:srgbClr val="FFFFFF"/>
                </a:solidFill>
                <a:latin typeface="Malgun Gothic"/>
                <a:ea typeface="Malgun Gothic"/>
              </a:rPr>
              <a:t>C:\&gt; ATDT 01410</a:t>
            </a:r>
          </a:p>
          <a:p>
            <a:r>
              <a:rPr sz="1150" b="0">
                <a:solidFill>
                  <a:srgbClr val="FFFFFF"/>
                </a:solidFill>
                <a:latin typeface="Malgun Gothic"/>
                <a:ea typeface="Malgun Gothic"/>
              </a:rPr>
              <a:t>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371600"/>
            <a:ext cx="10698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  <a:ea typeface="Malgun Gothic"/>
              </a:rPr>
              <a:t>Go PC90s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788920"/>
            <a:ext cx="106984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400" b="1" dirty="0" err="1">
                <a:solidFill>
                  <a:srgbClr val="FFFFFF"/>
                </a:solidFill>
                <a:latin typeface="Malgun Gothic"/>
                <a:ea typeface="Malgun Gothic"/>
              </a:rPr>
              <a:t>PC통신</a:t>
            </a:r>
            <a:r>
              <a:rPr sz="2400" b="1" dirty="0">
                <a:solidFill>
                  <a:srgbClr val="FFFFFF"/>
                </a:solidFill>
                <a:latin typeface="Malgun Gothic"/>
                <a:ea typeface="Malgun Gothic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Malgun Gothic"/>
                <a:ea typeface="Malgun Gothic"/>
              </a:rPr>
              <a:t>재현</a:t>
            </a:r>
            <a:r>
              <a:rPr sz="2400" b="1" dirty="0">
                <a:solidFill>
                  <a:srgbClr val="FFFFFF"/>
                </a:solidFill>
                <a:latin typeface="Malgun Gothic"/>
                <a:ea typeface="Malgun Gothic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Malgun Gothic"/>
                <a:ea typeface="Malgun Gothic"/>
              </a:rPr>
              <a:t>프로젝트</a:t>
            </a:r>
            <a:endParaRPr sz="2400" b="1" dirty="0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8952" y="4023360"/>
            <a:ext cx="10698480" cy="10054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500" b="0" dirty="0">
                <a:solidFill>
                  <a:srgbClr val="FFFFFF"/>
                </a:solidFill>
                <a:latin typeface="나눔스퀘어 ExtraBold"/>
                <a:ea typeface="나눔스퀘어 ExtraBold"/>
              </a:rPr>
              <a:t>30년 전, </a:t>
            </a:r>
            <a:r>
              <a:rPr sz="1500" b="0" dirty="0" err="1">
                <a:solidFill>
                  <a:srgbClr val="FFFFFF"/>
                </a:solidFill>
                <a:latin typeface="나눔스퀘어 ExtraBold"/>
                <a:ea typeface="나눔스퀘어 ExtraBold"/>
              </a:rPr>
              <a:t>수백만</a:t>
            </a:r>
            <a:r>
              <a:rPr sz="1500" b="0" dirty="0">
                <a:solidFill>
                  <a:srgbClr val="FFFFFF"/>
                </a:solidFill>
                <a:latin typeface="나눔스퀘어 ExtraBold"/>
                <a:ea typeface="나눔스퀘어 ExtraBold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나눔스퀘어 ExtraBold"/>
                <a:ea typeface="나눔스퀘어 ExtraBold"/>
              </a:rPr>
              <a:t>명이</a:t>
            </a:r>
            <a:r>
              <a:rPr sz="1500" b="0" dirty="0">
                <a:solidFill>
                  <a:srgbClr val="FFFFFF"/>
                </a:solidFill>
                <a:latin typeface="나눔스퀘어 ExtraBold"/>
                <a:ea typeface="나눔스퀘어 ExtraBold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나눔스퀘어 ExtraBold"/>
                <a:ea typeface="나눔스퀘어 ExtraBold"/>
              </a:rPr>
              <a:t>머물렀던</a:t>
            </a:r>
            <a:r>
              <a:rPr sz="1500" b="0" dirty="0">
                <a:solidFill>
                  <a:srgbClr val="FFFFFF"/>
                </a:solidFill>
                <a:latin typeface="나눔스퀘어 ExtraBold"/>
                <a:ea typeface="나눔스퀘어 ExtraBold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나눔스퀘어 ExtraBold"/>
                <a:ea typeface="나눔스퀘어 ExtraBold"/>
              </a:rPr>
              <a:t>방이</a:t>
            </a:r>
            <a:r>
              <a:rPr sz="1500" b="0" dirty="0">
                <a:solidFill>
                  <a:srgbClr val="FFFFFF"/>
                </a:solidFill>
                <a:latin typeface="나눔스퀘어 ExtraBold"/>
                <a:ea typeface="나눔스퀘어 ExtraBold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나눔스퀘어 ExtraBold"/>
                <a:ea typeface="나눔스퀘어 ExtraBold"/>
              </a:rPr>
              <a:t>사라졌다</a:t>
            </a:r>
            <a:r>
              <a:rPr sz="1500" b="0" dirty="0">
                <a:solidFill>
                  <a:srgbClr val="FFFFFF"/>
                </a:solidFill>
                <a:latin typeface="나눔스퀘어 ExtraBold"/>
                <a:ea typeface="나눔스퀘어 ExtraBold"/>
              </a:rPr>
              <a:t>.</a:t>
            </a:r>
          </a:p>
          <a:p>
            <a:pPr>
              <a:lnSpc>
                <a:spcPct val="150000"/>
              </a:lnSpc>
            </a:pPr>
            <a:r>
              <a:rPr sz="1500" b="0" dirty="0" err="1">
                <a:solidFill>
                  <a:srgbClr val="FFFFFF"/>
                </a:solidFill>
                <a:latin typeface="나눔스퀘어 ExtraBold"/>
                <a:ea typeface="나눔스퀘어 ExtraBold"/>
              </a:rPr>
              <a:t>우리는</a:t>
            </a:r>
            <a:r>
              <a:rPr sz="1500" b="0" dirty="0">
                <a:solidFill>
                  <a:srgbClr val="FFFFFF"/>
                </a:solidFill>
                <a:latin typeface="나눔스퀘어 ExtraBold"/>
                <a:ea typeface="나눔스퀘어 ExtraBold"/>
              </a:rPr>
              <a:t> 그 </a:t>
            </a:r>
            <a:r>
              <a:rPr sz="1500" b="0" dirty="0" err="1">
                <a:solidFill>
                  <a:srgbClr val="FFFFFF"/>
                </a:solidFill>
                <a:latin typeface="나눔스퀘어 ExtraBold"/>
                <a:ea typeface="나눔스퀘어 ExtraBold"/>
              </a:rPr>
              <a:t>방을</a:t>
            </a:r>
            <a:r>
              <a:rPr sz="1500" b="0" dirty="0">
                <a:solidFill>
                  <a:srgbClr val="FFFFFF"/>
                </a:solidFill>
                <a:latin typeface="나눔스퀘어 ExtraBold"/>
                <a:ea typeface="나눔스퀘어 ExtraBold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나눔스퀘어 ExtraBold"/>
                <a:ea typeface="나눔스퀘어 ExtraBold"/>
              </a:rPr>
              <a:t>다시</a:t>
            </a:r>
            <a:r>
              <a:rPr sz="1500" b="0" dirty="0">
                <a:solidFill>
                  <a:srgbClr val="FFFFFF"/>
                </a:solidFill>
                <a:latin typeface="나눔스퀘어 ExtraBold"/>
                <a:ea typeface="나눔스퀘어 ExtraBold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나눔스퀘어 ExtraBold"/>
                <a:ea typeface="나눔스퀘어 ExtraBold"/>
              </a:rPr>
              <a:t>연다</a:t>
            </a:r>
            <a:r>
              <a:rPr sz="1500" b="0" dirty="0">
                <a:solidFill>
                  <a:srgbClr val="FFFFFF"/>
                </a:solidFill>
                <a:latin typeface="나눔스퀘어 ExtraBold"/>
                <a:ea typeface="나눔스퀘어 ExtraBold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500" b="0" dirty="0">
                <a:solidFill>
                  <a:srgbClr val="FFFFFF"/>
                </a:solidFill>
                <a:latin typeface="나눔스퀘어 ExtraBold"/>
                <a:ea typeface="나눔스퀘어 ExtraBold"/>
              </a:rPr>
              <a:t>Pc</a:t>
            </a:r>
            <a:r>
              <a:rPr lang="ko-KR" altLang="en-US" sz="1500" b="0" dirty="0">
                <a:solidFill>
                  <a:srgbClr val="FFFFFF"/>
                </a:solidFill>
                <a:latin typeface="나눔스퀘어 ExtraBold"/>
                <a:ea typeface="나눔스퀘어 ExtraBold"/>
              </a:rPr>
              <a:t>통신을 아는 사람들의 기억을 </a:t>
            </a:r>
            <a:r>
              <a:rPr lang="ko-KR" altLang="en-US" sz="1500" dirty="0">
                <a:solidFill>
                  <a:srgbClr val="FFFFFF"/>
                </a:solidFill>
                <a:latin typeface="나눔스퀘어 ExtraBold"/>
                <a:ea typeface="나눔스퀘어 ExtraBold"/>
              </a:rPr>
              <a:t>경험으로</a:t>
            </a:r>
            <a:r>
              <a:rPr lang="en-US" sz="1500" dirty="0">
                <a:solidFill>
                  <a:srgbClr val="FFFFFF"/>
                </a:solidFill>
                <a:latin typeface="나눔스퀘어 ExtraBold"/>
                <a:ea typeface="나눔스퀘어 ExtraBold"/>
              </a:rPr>
              <a:t> </a:t>
            </a:r>
            <a:r>
              <a:rPr lang="ko-KR" altLang="en-US" sz="1500" dirty="0">
                <a:solidFill>
                  <a:srgbClr val="FFFFFF"/>
                </a:solidFill>
                <a:latin typeface="나눔스퀘어 ExtraBold"/>
                <a:ea typeface="나눔스퀘어 ExtraBold"/>
              </a:rPr>
              <a:t>만든다</a:t>
            </a:r>
            <a:r>
              <a:rPr lang="en-US" altLang="ko-KR" sz="1500" dirty="0">
                <a:solidFill>
                  <a:srgbClr val="FFFFFF"/>
                </a:solidFill>
                <a:latin typeface="나눔스퀘어 ExtraBold"/>
                <a:ea typeface="나눔스퀘어 ExtraBold"/>
              </a:rPr>
              <a:t>.</a:t>
            </a:r>
            <a:endParaRPr sz="1500" b="0" dirty="0">
              <a:solidFill>
                <a:srgbClr val="FFFFFF"/>
              </a:solidFill>
              <a:latin typeface="나눔스퀘어 ExtraBold"/>
              <a:ea typeface="나눔스퀘어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332720" y="62179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Malgun Gothic"/>
                <a:ea typeface="Malgun Gothic"/>
              </a:rPr>
              <a:t>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8952" y="47548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>
                <a:solidFill>
                  <a:srgbClr val="1E3BD6"/>
                </a:solidFill>
                <a:latin typeface="Malgun Gothic"/>
                <a:ea typeface="Malgun Gothic"/>
              </a:rPr>
              <a:t>기획 의도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315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dirty="0" err="1">
                <a:solidFill>
                  <a:srgbClr val="15171C"/>
                </a:solidFill>
                <a:latin typeface="Malgun Gothic"/>
                <a:ea typeface="Malgun Gothic"/>
              </a:rPr>
              <a:t>PC통신은</a:t>
            </a:r>
            <a:r>
              <a:rPr sz="2000" b="1" dirty="0">
                <a:solidFill>
                  <a:srgbClr val="15171C"/>
                </a:solidFill>
                <a:latin typeface="Malgun Gothic"/>
                <a:ea typeface="Malgun Gothic"/>
              </a:rPr>
              <a:t> </a:t>
            </a:r>
            <a:r>
              <a:rPr sz="2000" b="1" dirty="0" err="1">
                <a:solidFill>
                  <a:srgbClr val="15171C"/>
                </a:solidFill>
                <a:latin typeface="Malgun Gothic"/>
                <a:ea typeface="Malgun Gothic"/>
              </a:rPr>
              <a:t>사라졌고</a:t>
            </a:r>
            <a:r>
              <a:rPr sz="2000" b="1" dirty="0">
                <a:solidFill>
                  <a:srgbClr val="15171C"/>
                </a:solidFill>
                <a:latin typeface="Malgun Gothic"/>
                <a:ea typeface="Malgun Gothic"/>
              </a:rPr>
              <a:t>, </a:t>
            </a:r>
            <a:r>
              <a:rPr sz="2000" b="1" dirty="0" err="1">
                <a:solidFill>
                  <a:srgbClr val="15171C"/>
                </a:solidFill>
                <a:latin typeface="Malgun Gothic"/>
                <a:ea typeface="Malgun Gothic"/>
              </a:rPr>
              <a:t>제대로</a:t>
            </a:r>
            <a:r>
              <a:rPr sz="2000" b="1" dirty="0">
                <a:solidFill>
                  <a:srgbClr val="15171C"/>
                </a:solidFill>
                <a:latin typeface="Malgun Gothic"/>
                <a:ea typeface="Malgun Gothic"/>
              </a:rPr>
              <a:t> 된 </a:t>
            </a:r>
            <a:r>
              <a:rPr sz="2000" b="1" dirty="0" err="1">
                <a:solidFill>
                  <a:srgbClr val="15171C"/>
                </a:solidFill>
                <a:latin typeface="Malgun Gothic"/>
                <a:ea typeface="Malgun Gothic"/>
              </a:rPr>
              <a:t>기록은</a:t>
            </a:r>
            <a:r>
              <a:rPr sz="2000" b="1" dirty="0">
                <a:solidFill>
                  <a:srgbClr val="15171C"/>
                </a:solidFill>
                <a:latin typeface="Malgun Gothic"/>
                <a:ea typeface="Malgun Gothic"/>
              </a:rPr>
              <a:t> </a:t>
            </a:r>
            <a:r>
              <a:rPr sz="2000" b="1" dirty="0" err="1">
                <a:solidFill>
                  <a:srgbClr val="15171C"/>
                </a:solidFill>
                <a:latin typeface="Malgun Gothic"/>
                <a:ea typeface="Malgun Gothic"/>
              </a:rPr>
              <a:t>없다</a:t>
            </a:r>
            <a:endParaRPr sz="2000" b="1" dirty="0">
              <a:solidFill>
                <a:srgbClr val="15171C"/>
              </a:solidFill>
              <a:latin typeface="Malgun Gothic"/>
              <a:ea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8952" y="178308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>
                <a:solidFill>
                  <a:srgbClr val="1E3BD6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764792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2024년 10월 </a:t>
            </a:r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천리안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 </a:t>
            </a:r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종료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 — </a:t>
            </a:r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PC통신이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 </a:t>
            </a:r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공식적으로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 </a:t>
            </a:r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소멸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. </a:t>
            </a:r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매체는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 '한 </a:t>
            </a:r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시대의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 </a:t>
            </a:r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추억이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 </a:t>
            </a:r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사라지는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 </a:t>
            </a:r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사건'으로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 </a:t>
            </a:r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보도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624328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>
                <a:solidFill>
                  <a:srgbClr val="1E3BD6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0604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해외는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 </a:t>
            </a:r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개인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 </a:t>
            </a:r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운영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 </a:t>
            </a:r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BBS가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 </a:t>
            </a:r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명맥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 </a:t>
            </a:r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유지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. </a:t>
            </a:r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국내는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 </a:t>
            </a:r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희소하고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 </a:t>
            </a:r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내용도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 </a:t>
            </a:r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제한적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465576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>
                <a:solidFill>
                  <a:srgbClr val="1E3BD6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447288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>
                <a:solidFill>
                  <a:srgbClr val="15171C"/>
                </a:solidFill>
                <a:latin typeface="나눔스퀘어"/>
                <a:ea typeface="나눔스퀘어"/>
              </a:rPr>
              <a:t>회고 콘텐츠는 있으나 단편적 경험 전달·추억 재생산에 그침.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4306824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>
                <a:solidFill>
                  <a:srgbClr val="1E3BD6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288536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PC통신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 </a:t>
            </a:r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문화를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 </a:t>
            </a:r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제대로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 </a:t>
            </a:r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담은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 </a:t>
            </a:r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기록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 </a:t>
            </a:r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플랫폼이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 </a:t>
            </a:r>
            <a:r>
              <a:rPr sz="1400" b="0" dirty="0" err="1">
                <a:solidFill>
                  <a:srgbClr val="15171C"/>
                </a:solidFill>
                <a:latin typeface="나눔스퀘어"/>
                <a:ea typeface="나눔스퀘어"/>
              </a:rPr>
              <a:t>부재</a:t>
            </a:r>
            <a:r>
              <a:rPr sz="1400" b="0" dirty="0">
                <a:solidFill>
                  <a:srgbClr val="15171C"/>
                </a:solidFill>
                <a:latin typeface="나눔스퀘어"/>
                <a:ea typeface="나눔스퀘어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5239512"/>
            <a:ext cx="10515600" cy="868680"/>
          </a:xfrm>
          <a:prstGeom prst="rect">
            <a:avLst/>
          </a:prstGeom>
          <a:solidFill>
            <a:srgbClr val="1E3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5550741"/>
            <a:ext cx="98755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 dirty="0">
                <a:solidFill>
                  <a:srgbClr val="FFFFFF"/>
                </a:solidFill>
                <a:latin typeface="Malgun Gothic"/>
                <a:ea typeface="Malgun Gothic"/>
              </a:rPr>
              <a:t>“</a:t>
            </a: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</a:rPr>
              <a:t>기억마저 </a:t>
            </a:r>
            <a:r>
              <a:rPr sz="1600" b="1" dirty="0" err="1">
                <a:solidFill>
                  <a:srgbClr val="FFFFFF"/>
                </a:solidFill>
                <a:latin typeface="Malgun Gothic"/>
                <a:ea typeface="Malgun Gothic"/>
              </a:rPr>
              <a:t>흩어지기</a:t>
            </a:r>
            <a:r>
              <a:rPr sz="1600" b="1" dirty="0">
                <a:solidFill>
                  <a:srgbClr val="FFFFFF"/>
                </a:solidFill>
                <a:latin typeface="Malgun Gothic"/>
                <a:ea typeface="Malgun Gothic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Malgun Gothic"/>
                <a:ea typeface="Malgun Gothic"/>
              </a:rPr>
              <a:t>전에</a:t>
            </a:r>
            <a:r>
              <a:rPr sz="1600" b="1" dirty="0">
                <a:solidFill>
                  <a:srgbClr val="FFFFFF"/>
                </a:solidFill>
                <a:latin typeface="Malgun Gothic"/>
                <a:ea typeface="Malgun Gothic"/>
              </a:rPr>
              <a:t>, </a:t>
            </a: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</a:rPr>
              <a:t>남아있는 것을</a:t>
            </a:r>
            <a:r>
              <a:rPr sz="1600" b="1" dirty="0">
                <a:solidFill>
                  <a:srgbClr val="FFFFFF"/>
                </a:solidFill>
                <a:latin typeface="Malgun Gothic"/>
                <a:ea typeface="Malgun Gothic"/>
              </a:rPr>
              <a:t> 한 </a:t>
            </a:r>
            <a:r>
              <a:rPr sz="1600" b="1" dirty="0" err="1">
                <a:solidFill>
                  <a:srgbClr val="FFFFFF"/>
                </a:solidFill>
                <a:latin typeface="Malgun Gothic"/>
                <a:ea typeface="Malgun Gothic"/>
              </a:rPr>
              <a:t>곳에</a:t>
            </a:r>
            <a:r>
              <a:rPr sz="1600" b="1" dirty="0">
                <a:solidFill>
                  <a:srgbClr val="FFFFFF"/>
                </a:solidFill>
                <a:latin typeface="Malgun Gothic"/>
                <a:ea typeface="Malgun Gothic"/>
              </a:rPr>
              <a:t> </a:t>
            </a:r>
            <a:r>
              <a:rPr sz="1600" b="1" dirty="0" err="1">
                <a:solidFill>
                  <a:srgbClr val="FFFFFF"/>
                </a:solidFill>
                <a:latin typeface="Malgun Gothic"/>
                <a:ea typeface="Malgun Gothic"/>
              </a:rPr>
              <a:t>모은다</a:t>
            </a:r>
            <a:r>
              <a:rPr sz="1600" b="1" dirty="0">
                <a:solidFill>
                  <a:srgbClr val="FFFFFF"/>
                </a:solidFill>
                <a:latin typeface="Malgun Gothic"/>
                <a:ea typeface="Malgun Gothic"/>
              </a:rPr>
              <a:t>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>
                <a:solidFill>
                  <a:srgbClr val="6A6F7A"/>
                </a:solidFill>
                <a:latin typeface="Malgun Gothic"/>
                <a:ea typeface="Malgun Gothic"/>
              </a:rPr>
              <a:t>Go PC90s · PC통신 재현 프로젝트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>
                <a:solidFill>
                  <a:srgbClr val="2E323B"/>
                </a:solidFill>
                <a:latin typeface="Malgun Gothic"/>
                <a:ea typeface="Malgun Gothic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8952" y="731520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2000" b="1" dirty="0">
                <a:solidFill>
                  <a:srgbClr val="15171C"/>
                </a:solidFill>
                <a:latin typeface="Malgun Gothic"/>
                <a:ea typeface="Malgun Gothic"/>
              </a:rPr>
              <a:t>기대 </a:t>
            </a:r>
            <a:r>
              <a:rPr sz="2000" b="1" dirty="0" err="1">
                <a:solidFill>
                  <a:srgbClr val="15171C"/>
                </a:solidFill>
                <a:latin typeface="Malgun Gothic"/>
                <a:ea typeface="Malgun Gothic"/>
              </a:rPr>
              <a:t>효과</a:t>
            </a:r>
            <a:endParaRPr sz="2000" b="1" dirty="0">
              <a:solidFill>
                <a:srgbClr val="15171C"/>
              </a:solidFill>
              <a:latin typeface="Malgun Gothic"/>
              <a:ea typeface="Malgun Gothi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8952" y="1783080"/>
            <a:ext cx="109728" cy="566928"/>
          </a:xfrm>
          <a:prstGeom prst="rect">
            <a:avLst/>
          </a:prstGeom>
          <a:solidFill>
            <a:srgbClr val="1E3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1">
                <a:solidFill>
                  <a:srgbClr val="15171C"/>
                </a:solidFill>
                <a:latin typeface="Malgun Gothic"/>
                <a:ea typeface="Malgun Gothic"/>
              </a:rPr>
              <a:t>관객 경험 확장  </a:t>
            </a:r>
            <a:r>
              <a:rPr sz="1250" b="0">
                <a:solidFill>
                  <a:srgbClr val="2E323B"/>
                </a:solidFill>
                <a:latin typeface="나눔스퀘어"/>
                <a:ea typeface="나눔스퀘어"/>
              </a:rPr>
              <a:t>잠재 관객이 PC통신 인터페이스·소통 방식을 직접 체험하는 참여형 콘텐츠.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" y="2587752"/>
            <a:ext cx="109728" cy="566928"/>
          </a:xfrm>
          <a:prstGeom prst="rect">
            <a:avLst/>
          </a:prstGeom>
          <a:solidFill>
            <a:srgbClr val="1E3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587752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1">
                <a:solidFill>
                  <a:srgbClr val="15171C"/>
                </a:solidFill>
                <a:latin typeface="Malgun Gothic"/>
                <a:ea typeface="Malgun Gothic"/>
              </a:rPr>
              <a:t>이용자 커뮤니티 재결집  </a:t>
            </a:r>
            <a:r>
              <a:rPr sz="1250" b="0">
                <a:solidFill>
                  <a:srgbClr val="2E323B"/>
                </a:solidFill>
                <a:latin typeface="나눔스퀘어"/>
                <a:ea typeface="나눔스퀘어"/>
              </a:rPr>
              <a:t>과거 이용자들이 기억을 경험으로 공유·교류하는 '온라인의 방'.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" y="3392424"/>
            <a:ext cx="109728" cy="566928"/>
          </a:xfrm>
          <a:prstGeom prst="rect">
            <a:avLst/>
          </a:prstGeom>
          <a:solidFill>
            <a:srgbClr val="1E3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392424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1">
                <a:solidFill>
                  <a:srgbClr val="15171C"/>
                </a:solidFill>
                <a:latin typeface="Malgun Gothic"/>
                <a:ea typeface="Malgun Gothic"/>
              </a:rPr>
              <a:t>집단기억 수집·아카이빙  </a:t>
            </a:r>
            <a:r>
              <a:rPr sz="1250" b="0">
                <a:solidFill>
                  <a:srgbClr val="2E323B"/>
                </a:solidFill>
                <a:latin typeface="나눔스퀘어"/>
                <a:ea typeface="나눔스퀘어"/>
              </a:rPr>
              <a:t>참여를 통해 개인 경험과 산재한 기록을 발굴·수집, 한 곳에 보존.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4197096"/>
            <a:ext cx="109728" cy="566928"/>
          </a:xfrm>
          <a:prstGeom prst="rect">
            <a:avLst/>
          </a:prstGeom>
          <a:solidFill>
            <a:srgbClr val="1E3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4197096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1">
                <a:solidFill>
                  <a:srgbClr val="15171C"/>
                </a:solidFill>
                <a:latin typeface="Malgun Gothic"/>
                <a:ea typeface="Malgun Gothic"/>
              </a:rPr>
              <a:t>다큐 서사 확장  </a:t>
            </a:r>
            <a:r>
              <a:rPr sz="1250" b="0">
                <a:solidFill>
                  <a:srgbClr val="2E323B"/>
                </a:solidFill>
                <a:latin typeface="나눔스퀘어"/>
                <a:ea typeface="나눔스퀘어"/>
              </a:rPr>
              <a:t>영화와 현실을 연결. 못 다룬 인물·사건·기록을 온라인에서 보완.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" y="5001768"/>
            <a:ext cx="109728" cy="566928"/>
          </a:xfrm>
          <a:prstGeom prst="rect">
            <a:avLst/>
          </a:prstGeom>
          <a:solidFill>
            <a:srgbClr val="1E3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5001768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1">
                <a:solidFill>
                  <a:srgbClr val="15171C"/>
                </a:solidFill>
                <a:latin typeface="Malgun Gothic"/>
                <a:ea typeface="Malgun Gothic"/>
              </a:rPr>
              <a:t>홍보 효과  </a:t>
            </a:r>
            <a:r>
              <a:rPr sz="1250" b="0">
                <a:solidFill>
                  <a:srgbClr val="2E323B"/>
                </a:solidFill>
                <a:latin typeface="나눔스퀘어"/>
                <a:ea typeface="나눔스퀘어"/>
              </a:rPr>
              <a:t>아날로그 인터페이스·참여형 콘텐츠로 자발적 공유·입소문 유도.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>
                <a:solidFill>
                  <a:srgbClr val="6A6F7A"/>
                </a:solidFill>
                <a:latin typeface="Malgun Gothic"/>
                <a:ea typeface="Malgun Gothic"/>
              </a:rPr>
              <a:t>Go PC90s · PC통신 재현 프로젝트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>
                <a:solidFill>
                  <a:srgbClr val="2E323B"/>
                </a:solidFill>
                <a:latin typeface="Malgun Gothic"/>
                <a:ea typeface="Malgun Gothic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47548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>
                <a:solidFill>
                  <a:srgbClr val="1E3BD6"/>
                </a:solidFill>
                <a:latin typeface="Malgun Gothic"/>
                <a:ea typeface="Malgun Gothic"/>
              </a:rPr>
              <a:t>재현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31520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dirty="0" err="1">
                <a:solidFill>
                  <a:srgbClr val="15171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PC통신</a:t>
            </a:r>
            <a:r>
              <a:rPr sz="2000" b="1" dirty="0">
                <a:solidFill>
                  <a:srgbClr val="15171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2000" b="1" dirty="0" err="1">
                <a:solidFill>
                  <a:srgbClr val="15171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접속</a:t>
            </a:r>
            <a:r>
              <a:rPr sz="2000" b="1" dirty="0">
                <a:solidFill>
                  <a:srgbClr val="15171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2000" b="1" dirty="0" err="1">
                <a:solidFill>
                  <a:srgbClr val="15171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단계</a:t>
            </a:r>
            <a:r>
              <a:rPr lang="en-US" sz="2000" b="1" dirty="0">
                <a:solidFill>
                  <a:srgbClr val="15171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000" b="1" dirty="0">
                <a:solidFill>
                  <a:srgbClr val="15171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재현</a:t>
            </a:r>
            <a:endParaRPr sz="2000" b="1" dirty="0">
              <a:solidFill>
                <a:srgbClr val="15171C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8952" y="1600200"/>
            <a:ext cx="105156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디자인·사운드·운영</a:t>
            </a: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1250" b="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방식을</a:t>
            </a: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1250" b="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당대</a:t>
            </a: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1250" b="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환경과</a:t>
            </a: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1250" b="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최대한</a:t>
            </a: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1250" b="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동일하게</a:t>
            </a: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sz="1250" b="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개인정보법</a:t>
            </a: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1250" b="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문제없는</a:t>
            </a: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1250" b="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범위에서</a:t>
            </a: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1250" b="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실명가입·ID</a:t>
            </a: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1250" b="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부여·접속</a:t>
            </a: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BCFCA22F-ECAD-C72D-9F18-B5679D6DA9F3}"/>
              </a:ext>
            </a:extLst>
          </p:cNvPr>
          <p:cNvGrpSpPr/>
          <p:nvPr/>
        </p:nvGrpSpPr>
        <p:grpSpPr>
          <a:xfrm>
            <a:off x="758952" y="2168086"/>
            <a:ext cx="10899648" cy="1051560"/>
            <a:chOff x="758952" y="2514600"/>
            <a:chExt cx="10899648" cy="1051560"/>
          </a:xfrm>
        </p:grpSpPr>
        <p:sp>
          <p:nvSpPr>
            <p:cNvPr id="6" name="Rectangle 5"/>
            <p:cNvSpPr/>
            <p:nvPr/>
          </p:nvSpPr>
          <p:spPr>
            <a:xfrm>
              <a:off x="758952" y="2514600"/>
              <a:ext cx="1938528" cy="1051560"/>
            </a:xfrm>
            <a:prstGeom prst="rect">
              <a:avLst/>
            </a:prstGeom>
            <a:solidFill>
              <a:srgbClr val="15171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50392" y="2944200"/>
              <a:ext cx="1755648" cy="1923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이름·암호 입력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697480" y="2917269"/>
              <a:ext cx="301752" cy="24622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>
                  <a:solidFill>
                    <a:srgbClr val="1E3BD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›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2999232" y="2514600"/>
              <a:ext cx="1938528" cy="1051560"/>
            </a:xfrm>
            <a:prstGeom prst="rect">
              <a:avLst/>
            </a:prstGeom>
            <a:solidFill>
              <a:srgbClr val="15171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090672" y="2848019"/>
              <a:ext cx="1755648" cy="38472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전화 걸기</a:t>
              </a:r>
            </a:p>
            <a:p>
              <a:pPr algn="ctr"/>
              <a:r>
                <a:rPr sz="1250" b="1">
                  <a:solidFill>
                    <a:srgbClr val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(+모뎀음)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937760" y="2917269"/>
              <a:ext cx="301752" cy="24622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>
                  <a:solidFill>
                    <a:srgbClr val="1E3BD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›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239512" y="2514600"/>
              <a:ext cx="1938528" cy="1051560"/>
            </a:xfrm>
            <a:prstGeom prst="rect">
              <a:avLst/>
            </a:prstGeom>
            <a:solidFill>
              <a:srgbClr val="15171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330952" y="2944200"/>
              <a:ext cx="1755648" cy="1923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전화 거는 중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178040" y="2917269"/>
              <a:ext cx="301752" cy="24622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>
                  <a:solidFill>
                    <a:srgbClr val="1E3BD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›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479792" y="2514600"/>
              <a:ext cx="1938528" cy="1051560"/>
            </a:xfrm>
            <a:prstGeom prst="rect">
              <a:avLst/>
            </a:prstGeom>
            <a:solidFill>
              <a:srgbClr val="15171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571231" y="2944200"/>
              <a:ext cx="1755648" cy="1923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접속 안내문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418320" y="2917269"/>
              <a:ext cx="301752" cy="24622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>
                  <a:solidFill>
                    <a:srgbClr val="1E3BD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›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720072" y="2514600"/>
              <a:ext cx="1938528" cy="1051560"/>
            </a:xfrm>
            <a:prstGeom prst="rect">
              <a:avLst/>
            </a:prstGeom>
            <a:solidFill>
              <a:srgbClr val="1E3B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811512" y="2944200"/>
              <a:ext cx="1755648" cy="1923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250" b="1">
                  <a:solidFill>
                    <a:srgbClr val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접속 완료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655DBAC-8CCD-7997-6058-F0090C338B15}"/>
              </a:ext>
            </a:extLst>
          </p:cNvPr>
          <p:cNvGrpSpPr/>
          <p:nvPr/>
        </p:nvGrpSpPr>
        <p:grpSpPr>
          <a:xfrm>
            <a:off x="838200" y="3547207"/>
            <a:ext cx="10515600" cy="822960"/>
            <a:chOff x="758952" y="4023360"/>
            <a:chExt cx="10515600" cy="822960"/>
          </a:xfrm>
        </p:grpSpPr>
        <p:sp>
          <p:nvSpPr>
            <p:cNvPr id="20" name="Rectangle 19"/>
            <p:cNvSpPr/>
            <p:nvPr/>
          </p:nvSpPr>
          <p:spPr>
            <a:xfrm>
              <a:off x="758952" y="4023360"/>
              <a:ext cx="10515600" cy="822960"/>
            </a:xfrm>
            <a:prstGeom prst="rect">
              <a:avLst/>
            </a:prstGeom>
            <a:solidFill>
              <a:srgbClr val="F2F3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05840" y="4323381"/>
              <a:ext cx="10058400" cy="2000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r>
                <a:rPr sz="1300" b="1" dirty="0" err="1">
                  <a:solidFill>
                    <a:srgbClr val="1E3BD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과금</a:t>
              </a:r>
              <a:r>
                <a:rPr sz="1300" b="1" dirty="0">
                  <a:solidFill>
                    <a:srgbClr val="1E3BD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sz="1300" b="1" dirty="0" err="1">
                  <a:solidFill>
                    <a:srgbClr val="1E3BD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체험</a:t>
              </a:r>
              <a:r>
                <a:rPr sz="1300" b="1" dirty="0">
                  <a:solidFill>
                    <a:srgbClr val="1E3BD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sz="1300" b="1" dirty="0" err="1">
                  <a:solidFill>
                    <a:srgbClr val="1E3BD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장치</a:t>
              </a:r>
              <a:r>
                <a:rPr sz="1300" b="1" dirty="0">
                  <a:solidFill>
                    <a:srgbClr val="1E3BD6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</a:t>
              </a:r>
              <a:r>
                <a:rPr sz="1200" b="0" dirty="0" err="1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접속</a:t>
              </a:r>
              <a:r>
                <a:rPr sz="1200" b="0" dirty="0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sz="1200" b="0" dirty="0" err="1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시간에</a:t>
              </a:r>
              <a:r>
                <a:rPr sz="1200" b="0" dirty="0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sz="1200" b="0" dirty="0" err="1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따라</a:t>
              </a:r>
              <a:r>
                <a:rPr sz="1200" b="0" dirty="0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sz="1200" b="0" dirty="0" err="1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요금이</a:t>
              </a:r>
              <a:r>
                <a:rPr sz="1200" b="0" dirty="0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sz="1200" b="0" dirty="0" err="1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붙던</a:t>
              </a:r>
              <a:r>
                <a:rPr sz="1200" b="0" dirty="0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sz="1200" b="0" dirty="0" err="1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감각을</a:t>
              </a:r>
              <a:r>
                <a:rPr sz="1200" b="0" dirty="0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sz="1200" b="0" dirty="0" err="1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재현</a:t>
              </a:r>
              <a:r>
                <a:rPr sz="1200" b="0" dirty="0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— '쓸 수 </a:t>
              </a:r>
              <a:r>
                <a:rPr sz="1200" b="0" dirty="0" err="1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있는</a:t>
              </a:r>
              <a:r>
                <a:rPr sz="1200" b="0" dirty="0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sz="1200" b="0" dirty="0" err="1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시간</a:t>
              </a:r>
              <a:r>
                <a:rPr sz="1200" b="0" dirty="0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/ </a:t>
              </a:r>
              <a:r>
                <a:rPr sz="1200" b="0" dirty="0" err="1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남은</a:t>
              </a:r>
              <a:r>
                <a:rPr sz="1200" b="0" dirty="0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sz="1200" b="0" dirty="0" err="1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시간</a:t>
              </a:r>
              <a:r>
                <a:rPr sz="1200" b="0" dirty="0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' </a:t>
              </a:r>
              <a:r>
                <a:rPr sz="1200" b="0" dirty="0" err="1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표시</a:t>
              </a:r>
              <a:r>
                <a:rPr sz="1200" b="0" dirty="0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 </a:t>
              </a:r>
              <a:r>
                <a:rPr sz="1200" b="0" dirty="0" err="1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모바일은</a:t>
              </a:r>
              <a:r>
                <a:rPr sz="1200" b="0" dirty="0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sz="1200" b="0" dirty="0" err="1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읽기</a:t>
              </a:r>
              <a:r>
                <a:rPr sz="1200" b="0" dirty="0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sz="1200" b="0" dirty="0" err="1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전용</a:t>
              </a:r>
              <a:r>
                <a:rPr sz="1200" b="0" dirty="0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sz="1200" b="0" dirty="0" err="1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검토</a:t>
              </a:r>
              <a:r>
                <a:rPr sz="1200" b="0" dirty="0">
                  <a:solidFill>
                    <a:srgbClr val="2E323B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758952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>
                <a:solidFill>
                  <a:srgbClr val="6A6F7A"/>
                </a:solidFill>
                <a:latin typeface="Malgun Gothic"/>
                <a:ea typeface="Malgun Gothic"/>
              </a:rPr>
              <a:t>Go PC90s · PC통신 재현 프로젝트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>
                <a:solidFill>
                  <a:srgbClr val="2E323B"/>
                </a:solidFill>
                <a:latin typeface="Malgun Gothic"/>
                <a:ea typeface="Malgun Gothic"/>
              </a:rPr>
              <a:t>04 / 09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0E22782D-A996-BE43-DCAB-BE304788AFFE}"/>
              </a:ext>
            </a:extLst>
          </p:cNvPr>
          <p:cNvGrpSpPr/>
          <p:nvPr/>
        </p:nvGrpSpPr>
        <p:grpSpPr>
          <a:xfrm>
            <a:off x="1549614" y="4453471"/>
            <a:ext cx="8691666" cy="1795443"/>
            <a:chOff x="850392" y="4461712"/>
            <a:chExt cx="8691666" cy="1795443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7E07DF4B-EF16-2E2D-411E-546F884D9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0392" y="4461712"/>
              <a:ext cx="2701191" cy="1795443"/>
            </a:xfrm>
            <a:prstGeom prst="rect">
              <a:avLst/>
            </a:prstGeom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9AD91124-89A1-EB47-1C6B-9B5678178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63108" y="4461712"/>
              <a:ext cx="2830460" cy="1787659"/>
            </a:xfrm>
            <a:prstGeom prst="rect">
              <a:avLst/>
            </a:prstGeom>
          </p:spPr>
        </p:pic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E8B160E0-B93D-FBED-8DE5-7D79BEA68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99555" y="4475876"/>
              <a:ext cx="2942503" cy="177349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47548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>
                <a:solidFill>
                  <a:srgbClr val="1E3BD6"/>
                </a:solidFill>
                <a:latin typeface="Malgun Gothic"/>
                <a:ea typeface="Malgun Gothic"/>
              </a:rPr>
              <a:t>사이트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315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>
                <a:solidFill>
                  <a:srgbClr val="15171C"/>
                </a:solidFill>
                <a:latin typeface="Malgun Gothic"/>
                <a:ea typeface="Malgun Gothic"/>
              </a:rPr>
              <a:t>초기 하이텔 메뉴 구조를 그대로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783080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dirty="0" err="1">
                <a:solidFill>
                  <a:srgbClr val="1E3BD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접속화면</a:t>
            </a:r>
            <a:r>
              <a:rPr sz="1300" b="1" dirty="0">
                <a:solidFill>
                  <a:srgbClr val="1E3BD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1300" b="1" dirty="0" err="1">
                <a:solidFill>
                  <a:srgbClr val="1E3BD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메인</a:t>
            </a:r>
            <a:r>
              <a:rPr sz="1300" b="1" dirty="0">
                <a:solidFill>
                  <a:srgbClr val="1E3BD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1300" b="1" dirty="0" err="1">
                <a:solidFill>
                  <a:srgbClr val="1E3BD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메뉴</a:t>
            </a:r>
            <a:endParaRPr sz="1300" b="1" dirty="0">
              <a:solidFill>
                <a:srgbClr val="1E3BD6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8952" y="2240280"/>
            <a:ext cx="1463040" cy="640080"/>
          </a:xfrm>
          <a:prstGeom prst="rect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331720" y="2240280"/>
            <a:ext cx="1463040" cy="640080"/>
          </a:xfrm>
          <a:prstGeom prst="rect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04488" y="2240280"/>
            <a:ext cx="1463040" cy="640080"/>
          </a:xfrm>
          <a:prstGeom prst="rect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77256" y="2240280"/>
            <a:ext cx="1463040" cy="640080"/>
          </a:xfrm>
          <a:prstGeom prst="rect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50024" y="2240280"/>
            <a:ext cx="1463040" cy="640080"/>
          </a:xfrm>
          <a:prstGeom prst="rect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622792" y="2240280"/>
            <a:ext cx="1463040" cy="640080"/>
          </a:xfrm>
          <a:prstGeom prst="rect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195560" y="2240280"/>
            <a:ext cx="1463040" cy="640080"/>
          </a:xfrm>
          <a:prstGeom prst="rect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E6B67FF1-140B-301D-A15B-668C7EC5B2DB}"/>
              </a:ext>
            </a:extLst>
          </p:cNvPr>
          <p:cNvGrpSpPr/>
          <p:nvPr/>
        </p:nvGrpSpPr>
        <p:grpSpPr>
          <a:xfrm>
            <a:off x="758952" y="2240280"/>
            <a:ext cx="10899648" cy="640080"/>
            <a:chOff x="758952" y="2240280"/>
            <a:chExt cx="10899648" cy="640080"/>
          </a:xfrm>
        </p:grpSpPr>
        <p:sp>
          <p:nvSpPr>
            <p:cNvPr id="7" name="TextBox 6"/>
            <p:cNvSpPr txBox="1"/>
            <p:nvPr/>
          </p:nvSpPr>
          <p:spPr>
            <a:xfrm>
              <a:off x="758952" y="2240280"/>
              <a:ext cx="1463040" cy="6400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 dirty="0" err="1">
                  <a:solidFill>
                    <a:srgbClr val="FFFFFF"/>
                  </a:solidFill>
                  <a:latin typeface="Malgun Gothic"/>
                  <a:ea typeface="Malgun Gothic"/>
                </a:rPr>
                <a:t>길라잡이</a:t>
              </a:r>
              <a:endParaRPr sz="1100" b="1" dirty="0">
                <a:solidFill>
                  <a:srgbClr val="FFFFFF"/>
                </a:solidFill>
                <a:latin typeface="Malgun Gothic"/>
                <a:ea typeface="Malgun Gothic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331720" y="2240280"/>
              <a:ext cx="1463040" cy="6400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Malgun Gothic"/>
                  <a:ea typeface="Malgun Gothic"/>
                </a:rPr>
                <a:t>초보자마당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04488" y="2240280"/>
              <a:ext cx="1463040" cy="6400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Malgun Gothic"/>
                  <a:ea typeface="Malgun Gothic"/>
                </a:rPr>
                <a:t>생생이벤트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477256" y="2240280"/>
              <a:ext cx="1463040" cy="6400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Malgun Gothic"/>
                  <a:ea typeface="Malgun Gothic"/>
                </a:rPr>
                <a:t>사이버교실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050024" y="2240280"/>
              <a:ext cx="1463040" cy="6400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Malgun Gothic"/>
                  <a:ea typeface="Malgun Gothic"/>
                </a:rPr>
                <a:t>게시판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622792" y="2240280"/>
              <a:ext cx="1463040" cy="6400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Malgun Gothic"/>
                  <a:ea typeface="Malgun Gothic"/>
                </a:rPr>
                <a:t>대화실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0195560" y="2240280"/>
              <a:ext cx="1463040" cy="6400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Malgun Gothic"/>
                  <a:ea typeface="Malgun Gothic"/>
                </a:rPr>
                <a:t>동호회·모임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758952" y="3184626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dirty="0" err="1">
                <a:solidFill>
                  <a:srgbClr val="1E3BD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하위</a:t>
            </a:r>
            <a:r>
              <a:rPr sz="1300" b="1" dirty="0">
                <a:solidFill>
                  <a:srgbClr val="1E3BD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1300" b="1" dirty="0" err="1">
                <a:solidFill>
                  <a:srgbClr val="1E3BD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메뉴</a:t>
            </a:r>
            <a:r>
              <a:rPr sz="1300" b="1" dirty="0">
                <a:solidFill>
                  <a:srgbClr val="1E3BD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— </a:t>
            </a:r>
            <a:r>
              <a:rPr sz="1300" b="1" dirty="0" err="1">
                <a:solidFill>
                  <a:srgbClr val="1E3BD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다큐</a:t>
            </a:r>
            <a:r>
              <a:rPr sz="1300" b="1" dirty="0">
                <a:solidFill>
                  <a:srgbClr val="1E3BD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1300" b="1" dirty="0" err="1">
                <a:solidFill>
                  <a:srgbClr val="1E3BD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출연</a:t>
            </a:r>
            <a:r>
              <a:rPr sz="1300" b="1" dirty="0">
                <a:solidFill>
                  <a:srgbClr val="1E3BD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1300" b="1" dirty="0" err="1">
                <a:solidFill>
                  <a:srgbClr val="1E3BD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동호회</a:t>
            </a:r>
            <a:r>
              <a:rPr sz="1300" b="1" dirty="0">
                <a:solidFill>
                  <a:srgbClr val="1E3BD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1300" b="1" dirty="0" err="1">
                <a:solidFill>
                  <a:srgbClr val="1E3BD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개설</a:t>
            </a:r>
            <a:endParaRPr sz="1300" b="1" dirty="0">
              <a:solidFill>
                <a:srgbClr val="1E3BD6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8427" y="3451465"/>
            <a:ext cx="10515600" cy="837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• </a:t>
            </a:r>
            <a:r>
              <a:rPr lang="ko-KR" altLang="en-US"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전체 메뉴</a:t>
            </a:r>
            <a:r>
              <a:rPr lang="en-US" altLang="ko-KR"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</a:t>
            </a:r>
            <a:r>
              <a:rPr lang="ko-KR" altLang="en-US"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하위 메뉴</a:t>
            </a:r>
            <a:r>
              <a:rPr lang="en-US" altLang="ko-KR"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광장</a:t>
            </a:r>
            <a:r>
              <a:rPr lang="en-US" altLang="ko-KR"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자료실</a:t>
            </a:r>
            <a:r>
              <a:rPr lang="en-US" altLang="ko-KR"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유머게시판</a:t>
            </a:r>
            <a:r>
              <a:rPr lang="en-US" altLang="ko-KR"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동호회 모임</a:t>
            </a:r>
            <a:r>
              <a:rPr lang="en-US" altLang="ko-KR"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25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퀴즈방</a:t>
            </a:r>
            <a:r>
              <a:rPr lang="en-US" altLang="ko-KR"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)-</a:t>
            </a:r>
            <a:r>
              <a:rPr lang="ko-KR" altLang="en-US" sz="125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하위메뉴별</a:t>
            </a: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sz="1250" b="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운영자에게·이야기방·공개자료실·질문과답·자유게시판</a:t>
            </a: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).</a:t>
            </a:r>
          </a:p>
          <a:p>
            <a:pPr>
              <a:lnSpc>
                <a:spcPct val="150000"/>
              </a:lnSpc>
            </a:pP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• </a:t>
            </a:r>
            <a:r>
              <a:rPr sz="1250" b="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사례</a:t>
            </a: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1250" b="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근거</a:t>
            </a: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— </a:t>
            </a:r>
            <a:r>
              <a:rPr sz="1250" b="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하이텔</a:t>
            </a: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1250" b="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과학동호회</a:t>
            </a: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(go </a:t>
            </a:r>
            <a:r>
              <a:rPr sz="1250" b="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ksc</a:t>
            </a: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sz="1250" b="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운영자</a:t>
            </a: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k2ksc) </a:t>
            </a:r>
            <a:r>
              <a:rPr lang="ko-KR" altLang="en-US"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등 당시 자료를 참고하여 운영 가능한 영역으로 선별 </a:t>
            </a:r>
            <a:r>
              <a:rPr sz="1250" b="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구성</a:t>
            </a: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[</a:t>
            </a:r>
            <a:r>
              <a:rPr sz="1250" b="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출처</a:t>
            </a: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sz="1250" b="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마이컴</a:t>
            </a: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1992.11 p173]</a:t>
            </a:r>
          </a:p>
          <a:p>
            <a:pPr>
              <a:lnSpc>
                <a:spcPct val="150000"/>
              </a:lnSpc>
            </a:pP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• </a:t>
            </a:r>
            <a:r>
              <a:rPr sz="1250" b="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기능</a:t>
            </a: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— </a:t>
            </a:r>
            <a:r>
              <a:rPr sz="1250" b="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게시판</a:t>
            </a: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1250" b="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글쓰기</a:t>
            </a: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답글</a:t>
            </a:r>
            <a:r>
              <a:rPr lang="en-US" altLang="ko-KR"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자료 업로드</a:t>
            </a:r>
            <a:r>
              <a:rPr lang="en-US" altLang="ko-KR"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sz="1250" b="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프로필</a:t>
            </a: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1250" b="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설정</a:t>
            </a:r>
            <a:r>
              <a:rPr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쪽지</a:t>
            </a:r>
            <a:r>
              <a:rPr lang="en-US" altLang="ko-KR" sz="1250" b="0" dirty="0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sz="1250" b="0" dirty="0" err="1">
                <a:solidFill>
                  <a:srgbClr val="2E323B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대화방</a:t>
            </a:r>
            <a:endParaRPr sz="1250" b="0" dirty="0">
              <a:solidFill>
                <a:srgbClr val="2E323B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58952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>
                <a:solidFill>
                  <a:srgbClr val="6A6F7A"/>
                </a:solidFill>
                <a:latin typeface="Malgun Gothic"/>
                <a:ea typeface="Malgun Gothic"/>
              </a:rPr>
              <a:t>Go PC90s · PC통신 재현 프로젝트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>
                <a:solidFill>
                  <a:srgbClr val="2E323B"/>
                </a:solidFill>
                <a:latin typeface="Malgun Gothic"/>
                <a:ea typeface="Malgun Gothic"/>
              </a:rPr>
              <a:t>05 / 09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21BBE67-5C08-83E3-3C0B-BCAB2120B706}"/>
              </a:ext>
            </a:extLst>
          </p:cNvPr>
          <p:cNvGrpSpPr/>
          <p:nvPr/>
        </p:nvGrpSpPr>
        <p:grpSpPr>
          <a:xfrm>
            <a:off x="889729" y="4347578"/>
            <a:ext cx="9818029" cy="1907312"/>
            <a:chOff x="889729" y="4347578"/>
            <a:chExt cx="9818029" cy="1907312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92FD418D-8CF9-CD07-DF22-C1A60F1F90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9729" y="4347578"/>
              <a:ext cx="3746279" cy="1884864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57866F68-F342-7E9C-882E-8F34BCF058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29038" y="4379595"/>
              <a:ext cx="2983727" cy="1862067"/>
            </a:xfrm>
            <a:prstGeom prst="rect">
              <a:avLst/>
            </a:prstGeom>
          </p:spPr>
        </p:pic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12BC043B-83D6-638D-9356-644E65102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46790" y="4347578"/>
              <a:ext cx="2860968" cy="19073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8952" y="47548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>
                <a:solidFill>
                  <a:srgbClr val="1E3BD6"/>
                </a:solidFill>
                <a:latin typeface="Malgun Gothic"/>
                <a:ea typeface="Malgun Gothic"/>
              </a:rPr>
              <a:t>재현 요소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31520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2000" b="1" dirty="0">
                <a:solidFill>
                  <a:srgbClr val="15171C"/>
                </a:solidFill>
                <a:latin typeface="Malgun Gothic"/>
                <a:ea typeface="Malgun Gothic"/>
              </a:rPr>
              <a:t>재현 범위</a:t>
            </a:r>
            <a:endParaRPr sz="2000" b="1" dirty="0">
              <a:solidFill>
                <a:srgbClr val="15171C"/>
              </a:solidFill>
              <a:latin typeface="Malgun Gothic"/>
              <a:ea typeface="Malgun Gothic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339635"/>
              </p:ext>
            </p:extLst>
          </p:nvPr>
        </p:nvGraphicFramePr>
        <p:xfrm>
          <a:off x="758952" y="1737360"/>
          <a:ext cx="10058400" cy="435254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요소</a:t>
                      </a:r>
                      <a:endParaRPr sz="13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핵심</a:t>
                      </a:r>
                      <a:r>
                        <a:rPr sz="13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(</a:t>
                      </a:r>
                      <a:r>
                        <a:rPr sz="13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반드시</a:t>
                      </a:r>
                      <a:r>
                        <a:rPr sz="13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)</a:t>
                      </a:r>
                      <a:endParaRPr sz="13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재현</a:t>
                      </a:r>
                      <a:r>
                        <a:rPr sz="13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(</a:t>
                      </a:r>
                      <a:r>
                        <a:rPr sz="13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선택</a:t>
                      </a:r>
                      <a:r>
                        <a:rPr sz="13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)</a:t>
                      </a:r>
                      <a:endParaRPr sz="13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포기</a:t>
                      </a:r>
                      <a:endParaRPr sz="1300" b="1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고려사항</a:t>
                      </a:r>
                      <a:endParaRPr sz="13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15171C"/>
                          </a:solidFill>
                        </a:rPr>
                        <a:t>① </a:t>
                      </a:r>
                      <a:r>
                        <a:rPr sz="1300" b="1" dirty="0" err="1">
                          <a:solidFill>
                            <a:srgbClr val="15171C"/>
                          </a:solidFill>
                        </a:rPr>
                        <a:t>접속</a:t>
                      </a:r>
                      <a:r>
                        <a:rPr sz="1300" b="1" dirty="0">
                          <a:solidFill>
                            <a:srgbClr val="15171C"/>
                          </a:solidFill>
                        </a:rPr>
                        <a:t> </a:t>
                      </a:r>
                      <a:r>
                        <a:rPr sz="1300" b="1" dirty="0" err="1">
                          <a:solidFill>
                            <a:srgbClr val="15171C"/>
                          </a:solidFill>
                        </a:rPr>
                        <a:t>경험</a:t>
                      </a:r>
                      <a:endParaRPr sz="1300" b="1" dirty="0">
                        <a:solidFill>
                          <a:srgbClr val="15171C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</a:rPr>
                        <a:t>다이얼음→연결→완료</a:t>
                      </a:r>
                    </a:p>
                    <a:p>
                      <a:r>
                        <a:rPr sz="1300">
                          <a:solidFill>
                            <a:srgbClr val="2E323B"/>
                          </a:solidFill>
                        </a:rPr>
                        <a:t>화면·사운드</a:t>
                      </a:r>
                      <a:endParaRPr sz="130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접속속도·접속자수</a:t>
                      </a:r>
                      <a:r>
                        <a:rPr sz="1300" dirty="0">
                          <a:solidFill>
                            <a:srgbClr val="2E323B"/>
                          </a:solidFill>
                        </a:rPr>
                        <a:t>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표시</a:t>
                      </a:r>
                      <a:endParaRPr sz="1300" dirty="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실제</a:t>
                      </a:r>
                      <a:r>
                        <a:rPr sz="1300" dirty="0">
                          <a:solidFill>
                            <a:srgbClr val="2E323B"/>
                          </a:solidFill>
                        </a:rPr>
                        <a:t>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전화선</a:t>
                      </a:r>
                      <a:r>
                        <a:rPr sz="1300" dirty="0">
                          <a:solidFill>
                            <a:srgbClr val="2E323B"/>
                          </a:solidFill>
                        </a:rPr>
                        <a:t>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에뮬</a:t>
                      </a:r>
                      <a:endParaRPr sz="1300" dirty="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저작권</a:t>
                      </a:r>
                      <a:r>
                        <a:rPr sz="1300" dirty="0">
                          <a:solidFill>
                            <a:srgbClr val="2E323B"/>
                          </a:solidFill>
                        </a:rPr>
                        <a:t>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없는</a:t>
                      </a:r>
                      <a:r>
                        <a:rPr sz="1300" dirty="0">
                          <a:solidFill>
                            <a:srgbClr val="2E323B"/>
                          </a:solidFill>
                        </a:rPr>
                        <a:t>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음원</a:t>
                      </a:r>
                      <a:r>
                        <a:rPr sz="1300" dirty="0">
                          <a:solidFill>
                            <a:srgbClr val="2E323B"/>
                          </a:solidFill>
                        </a:rPr>
                        <a:t>,</a:t>
                      </a:r>
                    </a:p>
                    <a:p>
                      <a:r>
                        <a:rPr lang="ko-KR" altLang="en-US" sz="1300" dirty="0">
                          <a:solidFill>
                            <a:srgbClr val="2E323B"/>
                          </a:solidFill>
                        </a:rPr>
                        <a:t>사운드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끄기</a:t>
                      </a:r>
                      <a:r>
                        <a:rPr sz="1300" dirty="0">
                          <a:solidFill>
                            <a:srgbClr val="2E323B"/>
                          </a:solidFill>
                        </a:rPr>
                        <a:t>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가능</a:t>
                      </a:r>
                      <a:endParaRPr sz="1300" dirty="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5171C"/>
                          </a:solidFill>
                        </a:rPr>
                        <a:t>② 가입·ID</a:t>
                      </a:r>
                      <a:endParaRPr sz="1300" b="1">
                        <a:solidFill>
                          <a:srgbClr val="15171C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닉네임</a:t>
                      </a:r>
                      <a:r>
                        <a:rPr sz="1300" dirty="0">
                          <a:solidFill>
                            <a:srgbClr val="2E323B"/>
                          </a:solidFill>
                        </a:rPr>
                        <a:t>/ID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생성</a:t>
                      </a:r>
                      <a:r>
                        <a:rPr sz="1300" dirty="0">
                          <a:solidFill>
                            <a:srgbClr val="2E323B"/>
                          </a:solidFill>
                        </a:rPr>
                        <a:t>,</a:t>
                      </a:r>
                    </a:p>
                    <a:p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접속</a:t>
                      </a:r>
                      <a:r>
                        <a:rPr sz="1300" dirty="0">
                          <a:solidFill>
                            <a:srgbClr val="2E323B"/>
                          </a:solidFill>
                        </a:rPr>
                        <a:t> ID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연출</a:t>
                      </a:r>
                      <a:endParaRPr sz="1300" dirty="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환영</a:t>
                      </a:r>
                      <a:r>
                        <a:rPr lang="ko-KR" altLang="en-US" sz="1300" dirty="0">
                          <a:solidFill>
                            <a:srgbClr val="2E323B"/>
                          </a:solidFill>
                        </a:rPr>
                        <a:t>문구</a:t>
                      </a:r>
                      <a:r>
                        <a:rPr sz="1300" dirty="0">
                          <a:solidFill>
                            <a:srgbClr val="2E323B"/>
                          </a:solidFill>
                        </a:rPr>
                        <a:t>, ID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중복체크</a:t>
                      </a:r>
                      <a:endParaRPr sz="1300" dirty="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</a:rPr>
                        <a:t>주민번호·실명 수집</a:t>
                      </a:r>
                      <a:endParaRPr sz="130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</a:rPr>
                        <a:t>개인정보법 적용(하단)</a:t>
                      </a:r>
                      <a:endParaRPr sz="130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5171C"/>
                          </a:solidFill>
                        </a:rPr>
                        <a:t>③ 접속 후 공간</a:t>
                      </a:r>
                      <a:endParaRPr sz="1300" b="1">
                        <a:solidFill>
                          <a:srgbClr val="15171C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solidFill>
                            <a:srgbClr val="2E323B"/>
                          </a:solidFill>
                        </a:rPr>
                        <a:t>전체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메뉴</a:t>
                      </a:r>
                      <a:r>
                        <a:rPr lang="en-US" sz="1300" dirty="0" err="1">
                          <a:solidFill>
                            <a:srgbClr val="2E323B"/>
                          </a:solidFill>
                        </a:rPr>
                        <a:t>-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게시판</a:t>
                      </a:r>
                      <a:r>
                        <a:rPr sz="1300" dirty="0">
                          <a:solidFill>
                            <a:srgbClr val="2E323B"/>
                          </a:solidFill>
                        </a:rPr>
                        <a:t> </a:t>
                      </a:r>
                      <a:r>
                        <a:rPr lang="en-US" sz="1300" dirty="0">
                          <a:solidFill>
                            <a:srgbClr val="2E323B"/>
                          </a:solidFill>
                        </a:rPr>
                        <a:t>–</a:t>
                      </a:r>
                      <a:r>
                        <a:rPr lang="ko-KR" altLang="en-US" sz="1300" dirty="0">
                          <a:solidFill>
                            <a:srgbClr val="2E323B"/>
                          </a:solidFill>
                        </a:rPr>
                        <a:t>동호회</a:t>
                      </a:r>
                      <a:r>
                        <a:rPr lang="en-US" altLang="ko-KR" sz="1300" dirty="0">
                          <a:solidFill>
                            <a:srgbClr val="2E323B"/>
                          </a:solidFill>
                        </a:rPr>
                        <a:t>-</a:t>
                      </a:r>
                      <a:r>
                        <a:rPr lang="ko-KR" altLang="en-US" sz="1300" dirty="0" err="1">
                          <a:solidFill>
                            <a:srgbClr val="2E323B"/>
                          </a:solidFill>
                        </a:rPr>
                        <a:t>채팅방</a:t>
                      </a:r>
                      <a:r>
                        <a:rPr lang="en-US" altLang="ko-KR" sz="1300" dirty="0">
                          <a:solidFill>
                            <a:srgbClr val="2E323B"/>
                          </a:solidFill>
                        </a:rPr>
                        <a:t>(</a:t>
                      </a:r>
                      <a:r>
                        <a:rPr lang="ko-KR" altLang="en-US" sz="1300" dirty="0" err="1">
                          <a:solidFill>
                            <a:srgbClr val="2E323B"/>
                          </a:solidFill>
                        </a:rPr>
                        <a:t>퀴즈방</a:t>
                      </a:r>
                      <a:r>
                        <a:rPr lang="en-US" altLang="ko-KR" sz="1300" dirty="0">
                          <a:solidFill>
                            <a:srgbClr val="2E323B"/>
                          </a:solidFill>
                        </a:rPr>
                        <a:t>)</a:t>
                      </a:r>
                      <a:endParaRPr sz="1300" dirty="0">
                        <a:solidFill>
                          <a:srgbClr val="2E323B"/>
                        </a:solidFill>
                      </a:endParaRPr>
                    </a:p>
                    <a:p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아카이브</a:t>
                      </a:r>
                      <a:r>
                        <a:rPr sz="1300" dirty="0">
                          <a:solidFill>
                            <a:srgbClr val="2E323B"/>
                          </a:solidFill>
                        </a:rPr>
                        <a:t>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배치</a:t>
                      </a:r>
                      <a:r>
                        <a:rPr lang="en-US" sz="1300" dirty="0">
                          <a:solidFill>
                            <a:srgbClr val="2E323B"/>
                          </a:solidFill>
                        </a:rPr>
                        <a:t>, </a:t>
                      </a:r>
                      <a:r>
                        <a:rPr lang="ko-KR" altLang="en-US" sz="1300" dirty="0">
                          <a:solidFill>
                            <a:srgbClr val="2E323B"/>
                          </a:solidFill>
                        </a:rPr>
                        <a:t>명령어 기능</a:t>
                      </a:r>
                      <a:endParaRPr sz="1300" dirty="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대화방·쪽지함</a:t>
                      </a:r>
                      <a:endParaRPr sz="1300" dirty="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</a:rPr>
                        <a:t>—</a:t>
                      </a:r>
                      <a:endParaRPr sz="130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</a:rPr>
                        <a:t>콘텐츠 제작량,</a:t>
                      </a:r>
                    </a:p>
                    <a:p>
                      <a:r>
                        <a:rPr sz="1300">
                          <a:solidFill>
                            <a:srgbClr val="2E323B"/>
                          </a:solidFill>
                        </a:rPr>
                        <a:t>모니터링</a:t>
                      </a:r>
                      <a:endParaRPr sz="130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15171C"/>
                          </a:solidFill>
                        </a:rPr>
                        <a:t>④ </a:t>
                      </a:r>
                      <a:r>
                        <a:rPr sz="1300" b="1" dirty="0" err="1">
                          <a:solidFill>
                            <a:srgbClr val="15171C"/>
                          </a:solidFill>
                        </a:rPr>
                        <a:t>방문자</a:t>
                      </a:r>
                      <a:r>
                        <a:rPr sz="1300" b="1" dirty="0">
                          <a:solidFill>
                            <a:srgbClr val="15171C"/>
                          </a:solidFill>
                        </a:rPr>
                        <a:t> </a:t>
                      </a:r>
                      <a:r>
                        <a:rPr lang="ko-KR" altLang="en-US" sz="1300" b="1" dirty="0">
                          <a:solidFill>
                            <a:srgbClr val="15171C"/>
                          </a:solidFill>
                        </a:rPr>
                        <a:t>권한</a:t>
                      </a:r>
                      <a:endParaRPr sz="1300" b="1" dirty="0">
                        <a:solidFill>
                          <a:srgbClr val="15171C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solidFill>
                            <a:srgbClr val="2E323B"/>
                          </a:solidFill>
                        </a:rPr>
                        <a:t>글쓰기</a:t>
                      </a:r>
                      <a:r>
                        <a:rPr lang="en-US" altLang="ko-KR" sz="1300" dirty="0">
                          <a:solidFill>
                            <a:srgbClr val="2E323B"/>
                          </a:solidFill>
                        </a:rPr>
                        <a:t>, </a:t>
                      </a:r>
                      <a:r>
                        <a:rPr lang="ko-KR" altLang="en-US" sz="1300" dirty="0">
                          <a:solidFill>
                            <a:srgbClr val="2E323B"/>
                          </a:solidFill>
                        </a:rPr>
                        <a:t>자료 업로드</a:t>
                      </a:r>
                      <a:r>
                        <a:rPr lang="en-US" altLang="ko-KR" sz="1300" dirty="0">
                          <a:solidFill>
                            <a:srgbClr val="2E323B"/>
                          </a:solidFill>
                        </a:rPr>
                        <a:t>, </a:t>
                      </a:r>
                      <a:r>
                        <a:rPr lang="ko-KR" altLang="en-US" sz="1300" dirty="0">
                          <a:solidFill>
                            <a:srgbClr val="2E323B"/>
                          </a:solidFill>
                        </a:rPr>
                        <a:t>채팅</a:t>
                      </a:r>
                      <a:endParaRPr sz="1300" dirty="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</a:rPr>
                        <a:t>답글</a:t>
                      </a:r>
                      <a:endParaRPr sz="130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</a:rPr>
                        <a:t>—</a:t>
                      </a:r>
                      <a:endParaRPr sz="130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</a:rPr>
                        <a:t>악성·불법글 관리 부담</a:t>
                      </a:r>
                      <a:endParaRPr sz="130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5171C"/>
                          </a:solidFill>
                        </a:rPr>
                        <a:t>⑤ 운영·관리</a:t>
                      </a:r>
                      <a:endParaRPr sz="1300" b="1">
                        <a:solidFill>
                          <a:srgbClr val="15171C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</a:rPr>
                        <a:t>운영자 1인,</a:t>
                      </a:r>
                    </a:p>
                    <a:p>
                      <a:r>
                        <a:rPr sz="1300">
                          <a:solidFill>
                            <a:srgbClr val="2E323B"/>
                          </a:solidFill>
                        </a:rPr>
                        <a:t>신고·삭제 기준</a:t>
                      </a:r>
                      <a:endParaRPr sz="130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시삽·부시삽</a:t>
                      </a:r>
                      <a:r>
                        <a:rPr sz="1300" dirty="0">
                          <a:solidFill>
                            <a:srgbClr val="2E323B"/>
                          </a:solidFill>
                        </a:rPr>
                        <a:t>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문화</a:t>
                      </a:r>
                      <a:r>
                        <a:rPr sz="1300" dirty="0">
                          <a:solidFill>
                            <a:srgbClr val="2E323B"/>
                          </a:solidFill>
                        </a:rPr>
                        <a:t>,</a:t>
                      </a:r>
                    </a:p>
                    <a:p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운영규칙·공지</a:t>
                      </a:r>
                      <a:endParaRPr sz="1300" dirty="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</a:rPr>
                        <a:t>—</a:t>
                      </a:r>
                      <a:endParaRPr sz="130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</a:rPr>
                        <a:t>상시 모니터링 인력</a:t>
                      </a:r>
                      <a:endParaRPr sz="130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5171C"/>
                          </a:solidFill>
                        </a:rPr>
                        <a:t>⑥ 접속 환경</a:t>
                      </a:r>
                      <a:endParaRPr sz="1300" b="1">
                        <a:solidFill>
                          <a:srgbClr val="15171C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</a:rPr>
                        <a:t>PC·모바일 접속</a:t>
                      </a:r>
                      <a:endParaRPr sz="130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도스</a:t>
                      </a:r>
                      <a:r>
                        <a:rPr sz="1300" dirty="0">
                          <a:solidFill>
                            <a:srgbClr val="2E323B"/>
                          </a:solidFill>
                        </a:rPr>
                        <a:t>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모드</a:t>
                      </a:r>
                      <a:endParaRPr sz="1300" dirty="0">
                        <a:solidFill>
                          <a:srgbClr val="2E323B"/>
                        </a:solidFill>
                      </a:endParaRPr>
                    </a:p>
                    <a:p>
                      <a:r>
                        <a:rPr sz="1300" dirty="0">
                          <a:solidFill>
                            <a:srgbClr val="2E323B"/>
                          </a:solidFill>
                        </a:rPr>
                        <a:t>(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풀스크린</a:t>
                      </a:r>
                      <a:r>
                        <a:rPr sz="1300" dirty="0">
                          <a:solidFill>
                            <a:srgbClr val="2E323B"/>
                          </a:solidFill>
                        </a:rPr>
                        <a:t>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흑청</a:t>
                      </a:r>
                      <a:r>
                        <a:rPr sz="1300" dirty="0">
                          <a:solidFill>
                            <a:srgbClr val="2E323B"/>
                          </a:solidFill>
                        </a:rPr>
                        <a:t>)</a:t>
                      </a:r>
                      <a:endParaRPr sz="1300" dirty="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2E323B"/>
                          </a:solidFill>
                        </a:rPr>
                        <a:t>—</a:t>
                      </a:r>
                      <a:endParaRPr sz="1300" dirty="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endParaRPr sz="1300" dirty="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5171C"/>
                          </a:solidFill>
                        </a:rPr>
                        <a:t>⑦ 종료 설계</a:t>
                      </a:r>
                      <a:endParaRPr sz="1300" b="1">
                        <a:solidFill>
                          <a:srgbClr val="15171C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</a:rPr>
                        <a:t>한 달 후 종료·접속끊기</a:t>
                      </a:r>
                      <a:endParaRPr sz="130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</a:rPr>
                        <a:t>아카이브 박제</a:t>
                      </a:r>
                    </a:p>
                    <a:p>
                      <a:r>
                        <a:rPr sz="1300">
                          <a:solidFill>
                            <a:srgbClr val="2E323B"/>
                          </a:solidFill>
                        </a:rPr>
                        <a:t>(읽기전용)</a:t>
                      </a:r>
                      <a:endParaRPr sz="130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</a:rPr>
                        <a:t>영구 운영</a:t>
                      </a:r>
                      <a:endParaRPr sz="130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데이터</a:t>
                      </a:r>
                      <a:r>
                        <a:rPr sz="1300" dirty="0">
                          <a:solidFill>
                            <a:srgbClr val="2E323B"/>
                          </a:solidFill>
                        </a:rPr>
                        <a:t>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</a:rPr>
                        <a:t>보관·삭제</a:t>
                      </a:r>
                      <a:endParaRPr sz="1300" dirty="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54864" marR="36576" marT="18288" marB="1828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>
                <a:solidFill>
                  <a:srgbClr val="6A6F7A"/>
                </a:solidFill>
                <a:latin typeface="Malgun Gothic"/>
                <a:ea typeface="Malgun Gothic"/>
              </a:rPr>
              <a:t>Go PC90s · PC통신 재현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>
                <a:solidFill>
                  <a:srgbClr val="2E323B"/>
                </a:solidFill>
                <a:latin typeface="Malgun Gothic"/>
                <a:ea typeface="Malgun Gothic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8952" y="47548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>
                <a:solidFill>
                  <a:srgbClr val="1E3BD6"/>
                </a:solidFill>
                <a:latin typeface="Malgun Gothic"/>
                <a:ea typeface="Malgun Gothic"/>
              </a:rPr>
              <a:t>운영 규칙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31520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dirty="0" err="1">
                <a:solidFill>
                  <a:srgbClr val="15171C"/>
                </a:solidFill>
                <a:latin typeface="Malgun Gothic"/>
                <a:ea typeface="Malgun Gothic"/>
              </a:rPr>
              <a:t>당대</a:t>
            </a:r>
            <a:r>
              <a:rPr sz="2000" b="1" dirty="0">
                <a:solidFill>
                  <a:srgbClr val="15171C"/>
                </a:solidFill>
                <a:latin typeface="Malgun Gothic"/>
                <a:ea typeface="Malgun Gothic"/>
              </a:rPr>
              <a:t> </a:t>
            </a:r>
            <a:r>
              <a:rPr sz="2000" b="1" dirty="0" err="1">
                <a:solidFill>
                  <a:srgbClr val="15171C"/>
                </a:solidFill>
                <a:latin typeface="Malgun Gothic"/>
                <a:ea typeface="Malgun Gothic"/>
              </a:rPr>
              <a:t>규칙을</a:t>
            </a:r>
            <a:r>
              <a:rPr sz="2000" b="1" dirty="0">
                <a:solidFill>
                  <a:srgbClr val="15171C"/>
                </a:solidFill>
                <a:latin typeface="Malgun Gothic"/>
                <a:ea typeface="Malgun Gothic"/>
              </a:rPr>
              <a:t> </a:t>
            </a:r>
            <a:r>
              <a:rPr sz="2000" b="1" dirty="0" err="1">
                <a:solidFill>
                  <a:srgbClr val="15171C"/>
                </a:solidFill>
                <a:latin typeface="Malgun Gothic"/>
                <a:ea typeface="Malgun Gothic"/>
              </a:rPr>
              <a:t>근거로</a:t>
            </a:r>
            <a:r>
              <a:rPr sz="2000" b="1" dirty="0">
                <a:solidFill>
                  <a:srgbClr val="15171C"/>
                </a:solidFill>
                <a:latin typeface="Malgun Gothic"/>
                <a:ea typeface="Malgun Gothic"/>
              </a:rPr>
              <a:t> </a:t>
            </a:r>
            <a:r>
              <a:rPr sz="2000" b="1" dirty="0" err="1">
                <a:solidFill>
                  <a:srgbClr val="15171C"/>
                </a:solidFill>
                <a:latin typeface="Malgun Gothic"/>
                <a:ea typeface="Malgun Gothic"/>
              </a:rPr>
              <a:t>체험</a:t>
            </a:r>
            <a:r>
              <a:rPr sz="2000" b="1" dirty="0">
                <a:solidFill>
                  <a:srgbClr val="15171C"/>
                </a:solidFill>
                <a:latin typeface="Malgun Gothic"/>
                <a:ea typeface="Malgun Gothic"/>
              </a:rPr>
              <a:t> </a:t>
            </a:r>
            <a:r>
              <a:rPr sz="2000" b="1" dirty="0" err="1">
                <a:solidFill>
                  <a:srgbClr val="15171C"/>
                </a:solidFill>
                <a:latin typeface="Malgun Gothic"/>
                <a:ea typeface="Malgun Gothic"/>
              </a:rPr>
              <a:t>장치</a:t>
            </a:r>
            <a:r>
              <a:rPr lang="en-US" sz="2000" b="1" dirty="0">
                <a:solidFill>
                  <a:srgbClr val="15171C"/>
                </a:solidFill>
                <a:latin typeface="Malgun Gothic"/>
                <a:ea typeface="Malgun Gothic"/>
              </a:rPr>
              <a:t> </a:t>
            </a:r>
            <a:r>
              <a:rPr lang="ko-KR" altLang="en-US" sz="2000" b="1" dirty="0">
                <a:solidFill>
                  <a:srgbClr val="15171C"/>
                </a:solidFill>
                <a:latin typeface="Malgun Gothic"/>
                <a:ea typeface="Malgun Gothic"/>
              </a:rPr>
              <a:t>구현</a:t>
            </a:r>
            <a:endParaRPr sz="2000" b="1" dirty="0">
              <a:solidFill>
                <a:srgbClr val="15171C"/>
              </a:solidFill>
              <a:latin typeface="Malgun Gothic"/>
              <a:ea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8952" y="1600200"/>
            <a:ext cx="10515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전체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운영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규칙과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게시판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규칙을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분리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.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아래</a:t>
            </a:r>
            <a:r>
              <a:rPr lang="en-US"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운영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매뉴얼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근거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2240280"/>
            <a:ext cx="5120640" cy="9601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359152"/>
            <a:ext cx="4663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1E3BD6"/>
                </a:solidFill>
                <a:latin typeface="Malgun Gothic"/>
                <a:ea typeface="Malgun Gothic"/>
              </a:rPr>
              <a:t>'님' 문화</a:t>
            </a:r>
          </a:p>
          <a:p>
            <a:r>
              <a:rPr sz="1100" b="0">
                <a:solidFill>
                  <a:srgbClr val="2E323B"/>
                </a:solidFill>
                <a:latin typeface="나눔스퀘어"/>
                <a:ea typeface="나눔스퀘어"/>
              </a:rPr>
              <a:t>호칭은 형·누나가 아닌 '님'. 혈연·지연·학연을 묻지 않는 관계.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3912" y="2240280"/>
            <a:ext cx="5120640" cy="9601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2359152"/>
            <a:ext cx="4663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1E3BD6"/>
                </a:solidFill>
                <a:latin typeface="Malgun Gothic"/>
                <a:ea typeface="Malgun Gothic"/>
              </a:rPr>
              <a:t>1인 1 ID</a:t>
            </a:r>
          </a:p>
          <a:p>
            <a:r>
              <a:rPr sz="1100" b="0">
                <a:solidFill>
                  <a:srgbClr val="2E323B"/>
                </a:solidFill>
                <a:latin typeface="나눔스퀘어"/>
                <a:ea typeface="나눔스퀘어"/>
              </a:rPr>
              <a:t>한 사람이 한 ID를 갖는 것이 예의. 6~8자 작명 문화.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3383280"/>
            <a:ext cx="5120640" cy="9601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3502152"/>
            <a:ext cx="4663440" cy="53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dirty="0">
                <a:solidFill>
                  <a:srgbClr val="1E3BD6"/>
                </a:solidFill>
                <a:latin typeface="Malgun Gothic"/>
                <a:ea typeface="Malgun Gothic"/>
              </a:rPr>
              <a:t>글 </a:t>
            </a:r>
            <a:r>
              <a:rPr sz="1300" b="1" dirty="0" err="1">
                <a:solidFill>
                  <a:srgbClr val="1E3BD6"/>
                </a:solidFill>
                <a:latin typeface="Malgun Gothic"/>
                <a:ea typeface="Malgun Gothic"/>
              </a:rPr>
              <a:t>분량</a:t>
            </a:r>
            <a:r>
              <a:rPr sz="1300" b="1" dirty="0">
                <a:solidFill>
                  <a:srgbClr val="1E3BD6"/>
                </a:solidFill>
                <a:latin typeface="Malgun Gothic"/>
                <a:ea typeface="Malgun Gothic"/>
              </a:rPr>
              <a:t> </a:t>
            </a:r>
            <a:r>
              <a:rPr sz="1300" b="1" dirty="0" err="1">
                <a:solidFill>
                  <a:srgbClr val="1E3BD6"/>
                </a:solidFill>
                <a:latin typeface="Malgun Gothic"/>
                <a:ea typeface="Malgun Gothic"/>
              </a:rPr>
              <a:t>제한</a:t>
            </a:r>
            <a:r>
              <a:rPr lang="ko-KR" altLang="en-US" sz="1300" b="1" dirty="0">
                <a:solidFill>
                  <a:srgbClr val="1E3BD6"/>
                </a:solidFill>
                <a:latin typeface="Malgun Gothic"/>
                <a:ea typeface="Malgun Gothic"/>
              </a:rPr>
              <a:t>과 명령어 재현</a:t>
            </a:r>
            <a:endParaRPr sz="1300" b="1" dirty="0">
              <a:solidFill>
                <a:srgbClr val="1E3BD6"/>
              </a:solidFill>
              <a:latin typeface="Malgun Gothic"/>
              <a:ea typeface="Malgun Gothic"/>
            </a:endParaRPr>
          </a:p>
          <a:p>
            <a:r>
              <a:rPr sz="11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게시글·편지는</a:t>
            </a:r>
            <a:r>
              <a:rPr sz="1100" b="0" dirty="0">
                <a:solidFill>
                  <a:srgbClr val="2E323B"/>
                </a:solidFill>
                <a:latin typeface="나눔스퀘어"/>
                <a:ea typeface="나눔스퀘어"/>
              </a:rPr>
              <a:t> 200행 </a:t>
            </a:r>
            <a:r>
              <a:rPr sz="11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등으로</a:t>
            </a:r>
            <a:r>
              <a:rPr sz="110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1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길이</a:t>
            </a:r>
            <a:r>
              <a:rPr sz="110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1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제한</a:t>
            </a:r>
            <a:r>
              <a:rPr sz="1100" b="0" dirty="0">
                <a:solidFill>
                  <a:srgbClr val="2E323B"/>
                </a:solidFill>
                <a:latin typeface="나눔스퀘어"/>
                <a:ea typeface="나눔스퀘어"/>
              </a:rPr>
              <a:t>. [</a:t>
            </a:r>
            <a:r>
              <a:rPr sz="11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피씨월드</a:t>
            </a:r>
            <a:r>
              <a:rPr sz="1100" b="0" dirty="0">
                <a:solidFill>
                  <a:srgbClr val="2E323B"/>
                </a:solidFill>
                <a:latin typeface="나눔스퀘어"/>
                <a:ea typeface="나눔스퀘어"/>
              </a:rPr>
              <a:t> 1991.9]</a:t>
            </a:r>
            <a:endParaRPr lang="en-US" sz="1100" b="0" dirty="0">
              <a:solidFill>
                <a:srgbClr val="2E323B"/>
              </a:solidFill>
              <a:latin typeface="나눔스퀘어"/>
              <a:ea typeface="나눔스퀘어"/>
            </a:endParaRPr>
          </a:p>
          <a:p>
            <a:r>
              <a:rPr lang="ko-KR" altLang="en-US" sz="1100" dirty="0">
                <a:solidFill>
                  <a:srgbClr val="2E323B"/>
                </a:solidFill>
                <a:latin typeface="나눔스퀘어"/>
                <a:ea typeface="나눔스퀘어"/>
              </a:rPr>
              <a:t>마우스 없이 명령어로 이동할 수 있는 기능</a:t>
            </a:r>
            <a:endParaRPr sz="1100" b="0" dirty="0">
              <a:solidFill>
                <a:srgbClr val="2E323B"/>
              </a:solidFill>
              <a:latin typeface="나눔스퀘어"/>
              <a:ea typeface="나눔스퀘어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153912" y="3383280"/>
            <a:ext cx="5120640" cy="9601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3502152"/>
            <a:ext cx="46634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dirty="0" err="1">
                <a:solidFill>
                  <a:srgbClr val="1E3BD6"/>
                </a:solidFill>
                <a:latin typeface="Malgun Gothic"/>
                <a:ea typeface="Malgun Gothic"/>
              </a:rPr>
              <a:t>체류</a:t>
            </a:r>
            <a:r>
              <a:rPr sz="1300" b="1" dirty="0">
                <a:solidFill>
                  <a:srgbClr val="1E3BD6"/>
                </a:solidFill>
                <a:latin typeface="Malgun Gothic"/>
                <a:ea typeface="Malgun Gothic"/>
              </a:rPr>
              <a:t> </a:t>
            </a:r>
            <a:r>
              <a:rPr sz="1300" b="1" dirty="0" err="1">
                <a:solidFill>
                  <a:srgbClr val="1E3BD6"/>
                </a:solidFill>
                <a:latin typeface="Malgun Gothic"/>
                <a:ea typeface="Malgun Gothic"/>
              </a:rPr>
              <a:t>시간</a:t>
            </a:r>
            <a:r>
              <a:rPr lang="en-US" sz="1300" b="1" dirty="0">
                <a:solidFill>
                  <a:srgbClr val="1E3BD6"/>
                </a:solidFill>
                <a:latin typeface="Malgun Gothic"/>
                <a:ea typeface="Malgun Gothic"/>
              </a:rPr>
              <a:t>(</a:t>
            </a:r>
            <a:r>
              <a:rPr lang="ko-KR" altLang="en-US" sz="1300" b="1" dirty="0">
                <a:solidFill>
                  <a:srgbClr val="1E3BD6"/>
                </a:solidFill>
                <a:latin typeface="Malgun Gothic"/>
                <a:ea typeface="Malgun Gothic"/>
              </a:rPr>
              <a:t>시간 장치 등으로 이용 시간 표기</a:t>
            </a:r>
            <a:r>
              <a:rPr lang="en-US" altLang="ko-KR" sz="1300" b="1" dirty="0">
                <a:solidFill>
                  <a:srgbClr val="1E3BD6"/>
                </a:solidFill>
                <a:latin typeface="Malgun Gothic"/>
                <a:ea typeface="Malgun Gothic"/>
              </a:rPr>
              <a:t>, </a:t>
            </a:r>
            <a:r>
              <a:rPr lang="ko-KR" altLang="en-US" sz="1300" b="1" dirty="0">
                <a:solidFill>
                  <a:srgbClr val="1E3BD6"/>
                </a:solidFill>
                <a:latin typeface="Malgun Gothic"/>
                <a:ea typeface="Malgun Gothic"/>
              </a:rPr>
              <a:t>실제 제한은 아님</a:t>
            </a:r>
            <a:r>
              <a:rPr lang="en-US" altLang="ko-KR" sz="1300" b="1" dirty="0">
                <a:solidFill>
                  <a:srgbClr val="1E3BD6"/>
                </a:solidFill>
                <a:latin typeface="Malgun Gothic"/>
                <a:ea typeface="Malgun Gothic"/>
              </a:rPr>
              <a:t>)</a:t>
            </a:r>
            <a:endParaRPr sz="1300" b="1" dirty="0">
              <a:solidFill>
                <a:srgbClr val="1E3BD6"/>
              </a:solidFill>
              <a:latin typeface="Malgun Gothic"/>
              <a:ea typeface="Malgun Gothic"/>
            </a:endParaRPr>
          </a:p>
          <a:p>
            <a:r>
              <a:rPr sz="11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대화방</a:t>
            </a:r>
            <a:r>
              <a:rPr lang="en-US" sz="110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lang="ko-KR" altLang="en-US" sz="1100" b="0" dirty="0">
                <a:solidFill>
                  <a:srgbClr val="2E323B"/>
                </a:solidFill>
                <a:latin typeface="나눔스퀘어"/>
                <a:ea typeface="나눔스퀘어"/>
              </a:rPr>
              <a:t>재현 시</a:t>
            </a:r>
            <a:r>
              <a:rPr sz="1100" b="0" dirty="0">
                <a:solidFill>
                  <a:srgbClr val="2E323B"/>
                </a:solidFill>
                <a:latin typeface="나눔스퀘어"/>
                <a:ea typeface="나눔스퀘어"/>
              </a:rPr>
              <a:t> 20~30분 </a:t>
            </a:r>
            <a:r>
              <a:rPr sz="11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체류</a:t>
            </a:r>
            <a:r>
              <a:rPr sz="1100" b="0" dirty="0">
                <a:solidFill>
                  <a:srgbClr val="2E323B"/>
                </a:solidFill>
                <a:latin typeface="나눔스퀘어"/>
                <a:ea typeface="나눔스퀘어"/>
              </a:rPr>
              <a:t> 후 </a:t>
            </a:r>
            <a:r>
              <a:rPr lang="ko-KR" altLang="en-US" sz="1100" dirty="0">
                <a:solidFill>
                  <a:srgbClr val="2E323B"/>
                </a:solidFill>
                <a:latin typeface="나눔스퀘어"/>
                <a:ea typeface="나눔스퀘어"/>
              </a:rPr>
              <a:t>경고 문구</a:t>
            </a:r>
            <a:endParaRPr sz="1100" b="0" dirty="0">
              <a:solidFill>
                <a:srgbClr val="2E323B"/>
              </a:solidFill>
              <a:latin typeface="나눔스퀘어"/>
              <a:ea typeface="나눔스퀘어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58952" y="4526280"/>
            <a:ext cx="5120640" cy="9601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4645152"/>
            <a:ext cx="4663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1E3BD6"/>
                </a:solidFill>
                <a:latin typeface="Malgun Gothic"/>
                <a:ea typeface="Malgun Gothic"/>
              </a:rPr>
              <a:t>시삽·신고·삭제</a:t>
            </a:r>
          </a:p>
          <a:p>
            <a:r>
              <a:rPr sz="1100" b="0">
                <a:solidFill>
                  <a:srgbClr val="2E323B"/>
                </a:solidFill>
                <a:latin typeface="나눔스퀘어"/>
                <a:ea typeface="나눔스퀘어"/>
              </a:rPr>
              <a:t>운영자가 부적절 게시물 삭제·이동. 신고(/JUDGE)·퇴장(/kick) 권한.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53912" y="4526280"/>
            <a:ext cx="5120640" cy="96012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4645152"/>
            <a:ext cx="466344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300" b="1" dirty="0">
                <a:solidFill>
                  <a:srgbClr val="1E3BD6"/>
                </a:solidFill>
                <a:latin typeface="Malgun Gothic"/>
                <a:ea typeface="Malgun Gothic"/>
              </a:rPr>
              <a:t>네티즌 예절 공지</a:t>
            </a:r>
            <a:endParaRPr sz="1300" b="1" dirty="0">
              <a:solidFill>
                <a:srgbClr val="1E3BD6"/>
              </a:solidFill>
              <a:latin typeface="Malgun Gothic"/>
              <a:ea typeface="Malgun Gothic"/>
            </a:endParaRPr>
          </a:p>
          <a:p>
            <a:r>
              <a:rPr sz="11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예절은</a:t>
            </a:r>
            <a:r>
              <a:rPr sz="1100" b="0" dirty="0">
                <a:solidFill>
                  <a:srgbClr val="2E323B"/>
                </a:solidFill>
                <a:latin typeface="나눔스퀘어"/>
                <a:ea typeface="나눔스퀘어"/>
              </a:rPr>
              <a:t> '</a:t>
            </a:r>
            <a:r>
              <a:rPr sz="11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마찰을</a:t>
            </a:r>
            <a:r>
              <a:rPr sz="110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1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미리</a:t>
            </a:r>
            <a:r>
              <a:rPr sz="110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1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막는</a:t>
            </a:r>
            <a:r>
              <a:rPr sz="110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1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자율규범</a:t>
            </a:r>
            <a:r>
              <a:rPr sz="1100" b="0" dirty="0">
                <a:solidFill>
                  <a:srgbClr val="2E323B"/>
                </a:solidFill>
                <a:latin typeface="나눔스퀘어"/>
                <a:ea typeface="나눔스퀘어"/>
              </a:rPr>
              <a:t>'. </a:t>
            </a:r>
            <a:r>
              <a:rPr sz="11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법보다</a:t>
            </a:r>
            <a:r>
              <a:rPr sz="110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1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자발적</a:t>
            </a:r>
            <a:r>
              <a:rPr sz="110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1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질서</a:t>
            </a:r>
            <a:r>
              <a:rPr sz="1100" b="0" dirty="0">
                <a:solidFill>
                  <a:srgbClr val="2E323B"/>
                </a:solidFill>
                <a:latin typeface="나눔스퀘어"/>
                <a:ea typeface="나눔스퀘어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>
                <a:solidFill>
                  <a:srgbClr val="6A6F7A"/>
                </a:solidFill>
                <a:latin typeface="Malgun Gothic"/>
                <a:ea typeface="Malgun Gothic"/>
              </a:rPr>
              <a:t>Go PC90s · PC통신 재현 프로젝트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>
                <a:solidFill>
                  <a:srgbClr val="2E323B"/>
                </a:solidFill>
                <a:latin typeface="Malgun Gothic"/>
                <a:ea typeface="Malgun Gothic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8952" y="47548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>
                <a:solidFill>
                  <a:srgbClr val="1E3BD6"/>
                </a:solidFill>
                <a:latin typeface="Malgun Gothic"/>
                <a:ea typeface="Malgun Gothic"/>
              </a:rPr>
              <a:t>운영 · 결정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31520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dirty="0" err="1">
                <a:solidFill>
                  <a:srgbClr val="15171C"/>
                </a:solidFill>
                <a:latin typeface="Malgun Gothic"/>
                <a:ea typeface="Malgun Gothic"/>
              </a:rPr>
              <a:t>한시</a:t>
            </a:r>
            <a:r>
              <a:rPr sz="2000" b="1" dirty="0">
                <a:solidFill>
                  <a:srgbClr val="15171C"/>
                </a:solidFill>
                <a:latin typeface="Malgun Gothic"/>
                <a:ea typeface="Malgun Gothic"/>
              </a:rPr>
              <a:t> </a:t>
            </a:r>
            <a:r>
              <a:rPr sz="2000" b="1" dirty="0" err="1">
                <a:solidFill>
                  <a:srgbClr val="15171C"/>
                </a:solidFill>
                <a:latin typeface="Malgun Gothic"/>
                <a:ea typeface="Malgun Gothic"/>
              </a:rPr>
              <a:t>운영과</a:t>
            </a:r>
            <a:r>
              <a:rPr sz="2000" b="1" dirty="0">
                <a:solidFill>
                  <a:srgbClr val="15171C"/>
                </a:solidFill>
                <a:latin typeface="Malgun Gothic"/>
                <a:ea typeface="Malgun Gothic"/>
              </a:rPr>
              <a:t> </a:t>
            </a:r>
            <a:r>
              <a:rPr lang="ko-KR" altLang="en-US" sz="2000" b="1" dirty="0">
                <a:solidFill>
                  <a:srgbClr val="15171C"/>
                </a:solidFill>
                <a:latin typeface="Malgun Gothic"/>
                <a:ea typeface="Malgun Gothic"/>
              </a:rPr>
              <a:t>논의</a:t>
            </a:r>
            <a:r>
              <a:rPr sz="2000" b="1" dirty="0">
                <a:solidFill>
                  <a:srgbClr val="15171C"/>
                </a:solidFill>
                <a:latin typeface="Malgun Gothic"/>
                <a:ea typeface="Malgun Gothic"/>
              </a:rPr>
              <a:t> </a:t>
            </a:r>
            <a:r>
              <a:rPr sz="2000" b="1" dirty="0" err="1">
                <a:solidFill>
                  <a:srgbClr val="15171C"/>
                </a:solidFill>
                <a:latin typeface="Malgun Gothic"/>
                <a:ea typeface="Malgun Gothic"/>
              </a:rPr>
              <a:t>항목</a:t>
            </a:r>
            <a:endParaRPr sz="2000" b="1" dirty="0">
              <a:solidFill>
                <a:srgbClr val="15171C"/>
              </a:solidFill>
              <a:latin typeface="Malgun Gothic"/>
              <a:ea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8952" y="16916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1E3BD6"/>
                </a:solidFill>
                <a:latin typeface="Malgun Gothic"/>
                <a:ea typeface="Malgun Gothic"/>
              </a:rPr>
              <a:t>운영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103120"/>
            <a:ext cx="5120640" cy="1126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• </a:t>
            </a:r>
            <a:r>
              <a:rPr sz="125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기간</a:t>
            </a:r>
            <a:r>
              <a:rPr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 — 3주 </a:t>
            </a:r>
            <a:r>
              <a:rPr sz="125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한시</a:t>
            </a:r>
            <a:r>
              <a:rPr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5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운영</a:t>
            </a:r>
            <a:r>
              <a:rPr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 (</a:t>
            </a:r>
            <a:r>
              <a:rPr sz="125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오픈~종료</a:t>
            </a:r>
            <a:r>
              <a:rPr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)</a:t>
            </a:r>
          </a:p>
          <a:p>
            <a:pPr>
              <a:lnSpc>
                <a:spcPct val="150000"/>
              </a:lnSpc>
            </a:pPr>
            <a:r>
              <a:rPr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• </a:t>
            </a:r>
            <a:r>
              <a:rPr sz="125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운영자</a:t>
            </a:r>
            <a:r>
              <a:rPr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 — 1인 + </a:t>
            </a:r>
            <a:r>
              <a:rPr sz="125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신고·삭제</a:t>
            </a:r>
            <a:r>
              <a:rPr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5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기준</a:t>
            </a:r>
            <a:r>
              <a:rPr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5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사전</a:t>
            </a:r>
            <a:r>
              <a:rPr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5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합의·공지</a:t>
            </a:r>
            <a:endParaRPr sz="1250" b="0" dirty="0">
              <a:solidFill>
                <a:srgbClr val="2E323B"/>
              </a:solidFill>
              <a:latin typeface="나눔스퀘어"/>
              <a:ea typeface="나눔스퀘어"/>
            </a:endParaRPr>
          </a:p>
          <a:p>
            <a:pPr>
              <a:lnSpc>
                <a:spcPct val="150000"/>
              </a:lnSpc>
            </a:pPr>
            <a:r>
              <a:rPr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• </a:t>
            </a:r>
            <a:r>
              <a:rPr sz="125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종료</a:t>
            </a:r>
            <a:r>
              <a:rPr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 — '</a:t>
            </a:r>
            <a:r>
              <a:rPr sz="125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접속</a:t>
            </a:r>
            <a:r>
              <a:rPr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5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끊기</a:t>
            </a:r>
            <a:r>
              <a:rPr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' </a:t>
            </a:r>
            <a:r>
              <a:rPr sz="125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연출</a:t>
            </a:r>
            <a:r>
              <a:rPr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 후 </a:t>
            </a:r>
            <a:r>
              <a:rPr sz="125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읽기</a:t>
            </a:r>
            <a:r>
              <a:rPr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5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전용</a:t>
            </a:r>
            <a:r>
              <a:rPr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5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아카이브로</a:t>
            </a:r>
            <a:r>
              <a:rPr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5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박제</a:t>
            </a:r>
            <a:endParaRPr sz="1250" b="0" dirty="0">
              <a:solidFill>
                <a:srgbClr val="2E323B"/>
              </a:solidFill>
              <a:latin typeface="나눔스퀘어"/>
              <a:ea typeface="나눔스퀘어"/>
            </a:endParaRPr>
          </a:p>
          <a:p>
            <a:pPr>
              <a:lnSpc>
                <a:spcPct val="150000"/>
              </a:lnSpc>
            </a:pPr>
            <a:r>
              <a:rPr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• </a:t>
            </a:r>
            <a:r>
              <a:rPr sz="125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다큐</a:t>
            </a:r>
            <a:r>
              <a:rPr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5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연결</a:t>
            </a:r>
            <a:r>
              <a:rPr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 — </a:t>
            </a:r>
            <a:r>
              <a:rPr sz="125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사이트</a:t>
            </a:r>
            <a:r>
              <a:rPr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5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자체를</a:t>
            </a:r>
            <a:r>
              <a:rPr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5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촬영</a:t>
            </a:r>
            <a:r>
              <a:rPr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5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소재이자</a:t>
            </a:r>
            <a:r>
              <a:rPr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5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홍보</a:t>
            </a:r>
            <a:r>
              <a:rPr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5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채널로</a:t>
            </a:r>
            <a:r>
              <a:rPr lang="en-US"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lang="ko-KR" altLang="en-US" sz="1250" b="0" dirty="0">
                <a:solidFill>
                  <a:srgbClr val="2E323B"/>
                </a:solidFill>
                <a:latin typeface="나눔스퀘어"/>
                <a:ea typeface="나눔스퀘어"/>
              </a:rPr>
              <a:t>활용</a:t>
            </a:r>
            <a:endParaRPr sz="1250" b="0" dirty="0">
              <a:solidFill>
                <a:srgbClr val="2E323B"/>
              </a:solidFill>
              <a:latin typeface="나눔스퀘어"/>
              <a:ea typeface="나눔스퀘어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53912" y="16916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1E3BD6"/>
                </a:solidFill>
                <a:latin typeface="Malgun Gothic"/>
                <a:ea typeface="Malgun Gothic"/>
              </a:rPr>
              <a:t>팀 합의 체크리스트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3912" y="2103120"/>
            <a:ext cx="5120640" cy="1700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250" b="1" dirty="0">
                <a:solidFill>
                  <a:srgbClr val="15171C"/>
                </a:solidFill>
                <a:latin typeface="Malgun Gothic"/>
                <a:ea typeface="Malgun Gothic"/>
              </a:rPr>
              <a:t>☐ 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방문자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쓰기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범위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— </a:t>
            </a:r>
            <a:r>
              <a:rPr lang="ko-KR" altLang="en-US"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게시글 쓰기</a:t>
            </a:r>
            <a:r>
              <a:rPr lang="en-US" altLang="ko-KR"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/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읽기전용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/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게시판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/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채팅</a:t>
            </a:r>
            <a:endParaRPr sz="1200" b="0" dirty="0">
              <a:solidFill>
                <a:srgbClr val="2E323B"/>
              </a:solidFill>
              <a:latin typeface="나눔스퀘어"/>
              <a:ea typeface="나눔스퀘어"/>
            </a:endParaRPr>
          </a:p>
          <a:p>
            <a:pPr>
              <a:lnSpc>
                <a:spcPct val="150000"/>
              </a:lnSpc>
            </a:pPr>
            <a:r>
              <a:rPr sz="1250" b="1" dirty="0">
                <a:solidFill>
                  <a:srgbClr val="15171C"/>
                </a:solidFill>
                <a:latin typeface="Malgun Gothic"/>
                <a:ea typeface="Malgun Gothic"/>
              </a:rPr>
              <a:t>☐ 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실명가입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처리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—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연출만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/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닉네임+이메일</a:t>
            </a:r>
            <a:endParaRPr sz="1200" b="0" dirty="0">
              <a:solidFill>
                <a:srgbClr val="2E323B"/>
              </a:solidFill>
              <a:latin typeface="나눔스퀘어"/>
              <a:ea typeface="나눔스퀘어"/>
            </a:endParaRPr>
          </a:p>
          <a:p>
            <a:pPr>
              <a:lnSpc>
                <a:spcPct val="150000"/>
              </a:lnSpc>
            </a:pPr>
            <a:r>
              <a:rPr sz="1250" b="1" dirty="0">
                <a:solidFill>
                  <a:srgbClr val="15171C"/>
                </a:solidFill>
                <a:latin typeface="Malgun Gothic"/>
                <a:ea typeface="Malgun Gothic"/>
              </a:rPr>
              <a:t>☐ 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콘텐츠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범위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—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게시판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수, </a:t>
            </a:r>
            <a:r>
              <a:rPr lang="ko-KR" altLang="en-US"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업로드 할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자료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선정</a:t>
            </a:r>
            <a:endParaRPr sz="1200" b="0" dirty="0">
              <a:solidFill>
                <a:srgbClr val="2E323B"/>
              </a:solidFill>
              <a:latin typeface="나눔스퀘어"/>
              <a:ea typeface="나눔스퀘어"/>
            </a:endParaRPr>
          </a:p>
          <a:p>
            <a:pPr>
              <a:lnSpc>
                <a:spcPct val="150000"/>
              </a:lnSpc>
            </a:pPr>
            <a:r>
              <a:rPr sz="1250" b="1" dirty="0">
                <a:solidFill>
                  <a:srgbClr val="15171C"/>
                </a:solidFill>
                <a:latin typeface="Malgun Gothic"/>
                <a:ea typeface="Malgun Gothic"/>
              </a:rPr>
              <a:t>☐ 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운영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인력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— </a:t>
            </a:r>
            <a:r>
              <a:rPr lang="ko-KR" altLang="en-US"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일종의 시삽</a:t>
            </a:r>
            <a:r>
              <a:rPr lang="en-US" altLang="ko-KR"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,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lang="ko-KR" altLang="en-US"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문제 발생 시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대응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lang="ko-KR" altLang="en-US"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매뉴얼 필요</a:t>
            </a:r>
            <a:endParaRPr sz="1200" b="0" dirty="0">
              <a:solidFill>
                <a:srgbClr val="2E323B"/>
              </a:solidFill>
              <a:latin typeface="나눔스퀘어"/>
              <a:ea typeface="나눔스퀘어"/>
            </a:endParaRPr>
          </a:p>
          <a:p>
            <a:pPr>
              <a:lnSpc>
                <a:spcPct val="150000"/>
              </a:lnSpc>
            </a:pPr>
            <a:r>
              <a:rPr sz="1250" b="1" dirty="0">
                <a:solidFill>
                  <a:srgbClr val="15171C"/>
                </a:solidFill>
                <a:latin typeface="Malgun Gothic"/>
                <a:ea typeface="Malgun Gothic"/>
              </a:rPr>
              <a:t>☐ 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예산·일정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—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개발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외주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,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사운드·디자인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비용</a:t>
            </a:r>
            <a:endParaRPr sz="1200" b="0" dirty="0">
              <a:solidFill>
                <a:srgbClr val="2E323B"/>
              </a:solidFill>
              <a:latin typeface="나눔스퀘어"/>
              <a:ea typeface="나눔스퀘어"/>
            </a:endParaRPr>
          </a:p>
          <a:p>
            <a:pPr>
              <a:lnSpc>
                <a:spcPct val="150000"/>
              </a:lnSpc>
            </a:pPr>
            <a:r>
              <a:rPr sz="1250" b="1" dirty="0">
                <a:solidFill>
                  <a:srgbClr val="15171C"/>
                </a:solidFill>
                <a:latin typeface="Malgun Gothic"/>
                <a:ea typeface="Malgun Gothic"/>
              </a:rPr>
              <a:t>☐ 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법무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확인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 — 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개인정보·저작권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(</a:t>
            </a:r>
            <a:r>
              <a:rPr sz="1200" b="0" dirty="0" err="1">
                <a:solidFill>
                  <a:srgbClr val="2E323B"/>
                </a:solidFill>
                <a:latin typeface="나눔스퀘어"/>
                <a:ea typeface="나눔스퀘어"/>
              </a:rPr>
              <a:t>모뎀음·화면캡처</a:t>
            </a:r>
            <a:r>
              <a:rPr sz="1200" b="0" dirty="0">
                <a:solidFill>
                  <a:srgbClr val="2E323B"/>
                </a:solidFill>
                <a:latin typeface="나눔스퀘어"/>
                <a:ea typeface="나눔스퀘어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>
                <a:solidFill>
                  <a:srgbClr val="6A6F7A"/>
                </a:solidFill>
                <a:latin typeface="Malgun Gothic"/>
                <a:ea typeface="Malgun Gothic"/>
              </a:rPr>
              <a:t>Go PC90s · PC통신 재현 프로젝트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>
                <a:solidFill>
                  <a:srgbClr val="2E323B"/>
                </a:solidFill>
                <a:latin typeface="Malgun Gothic"/>
                <a:ea typeface="Malgun Gothic"/>
              </a:rPr>
              <a:t>09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58952" y="47548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>
                <a:solidFill>
                  <a:srgbClr val="1E3BD6"/>
                </a:solidFill>
                <a:latin typeface="Malgun Gothic"/>
                <a:ea typeface="Malgun Gothic"/>
              </a:rPr>
              <a:t>추진 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315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dirty="0">
                <a:solidFill>
                  <a:srgbClr val="15171C"/>
                </a:solidFill>
                <a:latin typeface="Malgun Gothic"/>
                <a:ea typeface="Malgun Gothic"/>
              </a:rPr>
              <a:t>11월 </a:t>
            </a:r>
            <a:r>
              <a:rPr sz="2000" b="1" dirty="0" err="1">
                <a:solidFill>
                  <a:srgbClr val="15171C"/>
                </a:solidFill>
                <a:latin typeface="Malgun Gothic"/>
                <a:ea typeface="Malgun Gothic"/>
              </a:rPr>
              <a:t>중순</a:t>
            </a:r>
            <a:r>
              <a:rPr sz="2000" b="1" dirty="0">
                <a:solidFill>
                  <a:srgbClr val="15171C"/>
                </a:solidFill>
                <a:latin typeface="Malgun Gothic"/>
                <a:ea typeface="Malgun Gothic"/>
              </a:rPr>
              <a:t> </a:t>
            </a:r>
            <a:r>
              <a:rPr sz="2000" b="1" dirty="0" err="1">
                <a:solidFill>
                  <a:srgbClr val="15171C"/>
                </a:solidFill>
                <a:latin typeface="Malgun Gothic"/>
                <a:ea typeface="Malgun Gothic"/>
              </a:rPr>
              <a:t>착수</a:t>
            </a:r>
            <a:r>
              <a:rPr sz="2000" b="1" dirty="0">
                <a:solidFill>
                  <a:srgbClr val="15171C"/>
                </a:solidFill>
                <a:latin typeface="Malgun Gothic"/>
                <a:ea typeface="Malgun Gothic"/>
              </a:rPr>
              <a:t> → 2월 오픈·3주 </a:t>
            </a:r>
            <a:r>
              <a:rPr sz="2000" b="1" dirty="0" err="1">
                <a:solidFill>
                  <a:srgbClr val="15171C"/>
                </a:solidFill>
                <a:latin typeface="Malgun Gothic"/>
                <a:ea typeface="Malgun Gothic"/>
              </a:rPr>
              <a:t>운영</a:t>
            </a:r>
            <a:endParaRPr sz="2000" b="1" dirty="0">
              <a:solidFill>
                <a:srgbClr val="15171C"/>
              </a:solidFill>
              <a:latin typeface="Malgun Gothic"/>
              <a:ea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8952" y="157276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운영자</a:t>
            </a:r>
            <a:r>
              <a:rPr sz="1100" b="0" dirty="0">
                <a:solidFill>
                  <a:srgbClr val="6A6F7A"/>
                </a:solidFill>
                <a:latin typeface="나눔스퀘어"/>
                <a:ea typeface="나눔스퀘어"/>
              </a:rPr>
              <a:t> 1인 · </a:t>
            </a:r>
            <a:r>
              <a:rPr sz="11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개발</a:t>
            </a:r>
            <a:r>
              <a:rPr sz="1100" b="0" dirty="0">
                <a:solidFill>
                  <a:srgbClr val="6A6F7A"/>
                </a:solidFill>
                <a:latin typeface="나눔스퀘어"/>
                <a:ea typeface="나눔스퀘어"/>
              </a:rPr>
              <a:t>/</a:t>
            </a:r>
            <a:r>
              <a:rPr sz="11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디자인·콘텐츠·운영</a:t>
            </a:r>
            <a:r>
              <a:rPr sz="1100" b="0" dirty="0">
                <a:solidFill>
                  <a:srgbClr val="6A6F7A"/>
                </a:solidFill>
                <a:latin typeface="나눔스퀘어"/>
                <a:ea typeface="나눔스퀘어"/>
              </a:rPr>
              <a:t>/</a:t>
            </a:r>
            <a:r>
              <a:rPr sz="11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법무·다큐</a:t>
            </a:r>
            <a:r>
              <a:rPr sz="1100" b="0" dirty="0">
                <a:solidFill>
                  <a:srgbClr val="6A6F7A"/>
                </a:solidFill>
                <a:latin typeface="나눔스퀘어"/>
                <a:ea typeface="나눔스퀘어"/>
              </a:rPr>
              <a:t> </a:t>
            </a:r>
            <a:r>
              <a:rPr sz="11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연계</a:t>
            </a:r>
            <a:r>
              <a:rPr sz="1100" b="0" dirty="0">
                <a:solidFill>
                  <a:srgbClr val="6A6F7A"/>
                </a:solidFill>
                <a:latin typeface="나눔스퀘어"/>
                <a:ea typeface="나눔스퀘어"/>
              </a:rPr>
              <a:t> </a:t>
            </a:r>
            <a:r>
              <a:rPr sz="11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병행</a:t>
            </a:r>
            <a:r>
              <a:rPr sz="1100" b="0" dirty="0">
                <a:solidFill>
                  <a:srgbClr val="6A6F7A"/>
                </a:solidFill>
                <a:latin typeface="나눔스퀘어"/>
                <a:ea typeface="나눔스퀘어"/>
              </a:rPr>
              <a:t>  (</a:t>
            </a:r>
            <a:r>
              <a:rPr sz="11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기간은</a:t>
            </a:r>
            <a:r>
              <a:rPr sz="1100" b="0" dirty="0">
                <a:solidFill>
                  <a:srgbClr val="6A6F7A"/>
                </a:solidFill>
                <a:latin typeface="나눔스퀘어"/>
                <a:ea typeface="나눔스퀘어"/>
              </a:rPr>
              <a:t> </a:t>
            </a:r>
            <a:r>
              <a:rPr sz="11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가정치</a:t>
            </a:r>
            <a:r>
              <a:rPr sz="1100" b="0" dirty="0">
                <a:solidFill>
                  <a:srgbClr val="6A6F7A"/>
                </a:solidFill>
                <a:latin typeface="나눔스퀘어"/>
                <a:ea typeface="나눔스퀘어"/>
              </a:rPr>
              <a:t>, </a:t>
            </a:r>
            <a:r>
              <a:rPr sz="11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외주</a:t>
            </a:r>
            <a:r>
              <a:rPr sz="1100" b="0" dirty="0">
                <a:solidFill>
                  <a:srgbClr val="6A6F7A"/>
                </a:solidFill>
                <a:latin typeface="나눔스퀘어"/>
                <a:ea typeface="나눔스퀘어"/>
              </a:rPr>
              <a:t> </a:t>
            </a:r>
            <a:r>
              <a:rPr sz="11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일정에</a:t>
            </a:r>
            <a:r>
              <a:rPr sz="1100" b="0" dirty="0">
                <a:solidFill>
                  <a:srgbClr val="6A6F7A"/>
                </a:solidFill>
                <a:latin typeface="나눔스퀘어"/>
                <a:ea typeface="나눔스퀘어"/>
              </a:rPr>
              <a:t> </a:t>
            </a:r>
            <a:r>
              <a:rPr sz="11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따라</a:t>
            </a:r>
            <a:r>
              <a:rPr sz="1100" b="0" dirty="0">
                <a:solidFill>
                  <a:srgbClr val="6A6F7A"/>
                </a:solidFill>
                <a:latin typeface="나눔스퀘어"/>
                <a:ea typeface="나눔스퀘어"/>
              </a:rPr>
              <a:t> </a:t>
            </a:r>
            <a:r>
              <a:rPr sz="11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조정</a:t>
            </a:r>
            <a:r>
              <a:rPr sz="1100" b="0" dirty="0">
                <a:solidFill>
                  <a:srgbClr val="6A6F7A"/>
                </a:solidFill>
                <a:latin typeface="나눔스퀘어"/>
                <a:ea typeface="나눔스퀘어"/>
              </a:rPr>
              <a:t>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910834"/>
              </p:ext>
            </p:extLst>
          </p:nvPr>
        </p:nvGraphicFramePr>
        <p:xfrm>
          <a:off x="758952" y="2148840"/>
          <a:ext cx="10515600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구분</a:t>
                      </a:r>
                    </a:p>
                  </a:txBody>
                  <a:tcPr marL="45720" marR="27432" marT="18288" marB="18288" anchor="ctr">
                    <a:solidFill>
                      <a:srgbClr val="1517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11월 중순~말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준비</a:t>
                      </a:r>
                    </a:p>
                  </a:txBody>
                  <a:tcPr marL="45720" marR="27432" marT="18288" marB="18288" anchor="ctr">
                    <a:solidFill>
                      <a:srgbClr val="1517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12월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제작 1</a:t>
                      </a:r>
                    </a:p>
                  </a:txBody>
                  <a:tcPr marL="45720" marR="27432" marT="18288" marB="18288" anchor="ctr">
                    <a:solidFill>
                      <a:srgbClr val="1517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1월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제작 2</a:t>
                      </a:r>
                    </a:p>
                  </a:txBody>
                  <a:tcPr marL="45720" marR="27432" marT="18288" marB="18288" anchor="ctr">
                    <a:solidFill>
                      <a:srgbClr val="1517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2월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오픈·운영</a:t>
                      </a:r>
                    </a:p>
                  </a:txBody>
                  <a:tcPr marL="45720" marR="27432" marT="18288" marB="18288" anchor="ctr">
                    <a:solidFill>
                      <a:srgbClr val="1517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2월말~3월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종료</a:t>
                      </a:r>
                    </a:p>
                  </a:txBody>
                  <a:tcPr marL="45720" marR="27432" marT="18288" marB="18288" anchor="ctr">
                    <a:solidFill>
                      <a:srgbClr val="1517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개발·디자인</a:t>
                      </a:r>
                      <a:endParaRPr sz="130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73152" anchor="ctr">
                    <a:solidFill>
                      <a:srgbClr val="1E3B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범위 확정·외주 섭외</a:t>
                      </a:r>
                    </a:p>
                  </a:txBody>
                  <a:tcPr marL="64008" marR="45720" marT="18288" marB="18288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개발 착수, 접속 시퀀스·모뎀음, 도스모드 UI</a:t>
                      </a:r>
                    </a:p>
                  </a:txBody>
                  <a:tcPr marL="64008" marR="45720" marT="18288" marB="18288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기능 완성(게시판·동호회·대화방), 베타 테스트</a:t>
                      </a:r>
                    </a:p>
                  </a:txBody>
                  <a:tcPr marL="64008" marR="45720" marT="18288" marB="18288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오픈·버그 대응</a:t>
                      </a:r>
                    </a:p>
                  </a:txBody>
                  <a:tcPr marL="64008" marR="45720" marT="18288" marB="18288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접속끊기 연출, 읽기전용 전환</a:t>
                      </a:r>
                    </a:p>
                  </a:txBody>
                  <a:tcPr marL="64008" marR="45720" marT="18288" marB="18288" anchor="ctr"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콘텐츠</a:t>
                      </a:r>
                      <a:endParaRPr sz="130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73152" anchor="ctr">
                    <a:solidFill>
                      <a:srgbClr val="1E3B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사용</a:t>
                      </a:r>
                      <a:r>
                        <a:rPr sz="1300" dirty="0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자료</a:t>
                      </a:r>
                      <a:r>
                        <a:rPr sz="1300" dirty="0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선정</a:t>
                      </a:r>
                      <a:endParaRPr sz="1300" dirty="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자료</a:t>
                      </a:r>
                      <a:r>
                        <a:rPr sz="1300" dirty="0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수집·가공</a:t>
                      </a:r>
                      <a:r>
                        <a:rPr sz="1300" dirty="0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, </a:t>
                      </a:r>
                      <a:endParaRPr lang="en-US" sz="1300" dirty="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  <a:p>
                      <a:r>
                        <a:rPr sz="1300" dirty="0" err="1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메뉴별</a:t>
                      </a:r>
                      <a:r>
                        <a:rPr sz="1300" dirty="0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배치</a:t>
                      </a:r>
                      <a:endParaRPr sz="1300" dirty="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게시판·동호회 콘텐츠 입력, 초기글 세팅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이벤트 운영, 참여글 모더레이션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참여 기록 수집·정리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운영·법무</a:t>
                      </a:r>
                      <a:endParaRPr sz="130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73152" anchor="ctr">
                    <a:solidFill>
                      <a:srgbClr val="1E3B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법무</a:t>
                      </a:r>
                      <a:r>
                        <a:rPr sz="1300" dirty="0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 1차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점검</a:t>
                      </a:r>
                      <a:endParaRPr lang="en-US" sz="1300" dirty="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  <a:p>
                      <a:r>
                        <a:rPr sz="1300" dirty="0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(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개인정보·저작권</a:t>
                      </a:r>
                      <a:r>
                        <a:rPr sz="1300" dirty="0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)</a:t>
                      </a:r>
                    </a:p>
                  </a:txBody>
                  <a:tcPr marL="64008" marR="45720" marT="18288" marB="18288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운영규칙·공지·신고삭제 기준 작성</a:t>
                      </a:r>
                    </a:p>
                  </a:txBody>
                  <a:tcPr marL="64008" marR="45720" marT="18288" marB="18288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가입·약관 확정, 전문가 자문 확인</a:t>
                      </a:r>
                    </a:p>
                  </a:txBody>
                  <a:tcPr marL="64008" marR="45720" marT="18288" marB="18288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상시 모니터링, 신고 대응</a:t>
                      </a:r>
                    </a:p>
                  </a:txBody>
                  <a:tcPr marL="64008" marR="45720" marT="18288" marB="18288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데이터 보관·삭제 처리</a:t>
                      </a:r>
                    </a:p>
                  </a:txBody>
                  <a:tcPr marL="64008" marR="45720" marT="18288" marB="18288" anchor="ctr"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다큐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연계</a:t>
                      </a:r>
                      <a:endParaRPr sz="1300" b="1" dirty="0">
                        <a:solidFill>
                          <a:srgbClr val="FFFFFF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73152" anchor="ctr">
                    <a:solidFill>
                      <a:srgbClr val="1E3B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촬영 계획 수립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사이트 제작 과정 촬영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오픈 직전 세팅 촬영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운영·이용자 반응 촬영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아카이브·결과</a:t>
                      </a:r>
                      <a:r>
                        <a:rPr sz="1300" dirty="0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  <a:latin typeface="나눔스퀘어"/>
                          <a:ea typeface="나눔스퀘어"/>
                        </a:rPr>
                        <a:t>촬영</a:t>
                      </a:r>
                      <a:endParaRPr sz="1300" dirty="0">
                        <a:solidFill>
                          <a:srgbClr val="2E323B"/>
                        </a:solidFill>
                        <a:latin typeface="나눔스퀘어"/>
                        <a:ea typeface="나눔스퀘어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" y="598932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>
                <a:solidFill>
                  <a:srgbClr val="1E3BD6"/>
                </a:solidFill>
                <a:latin typeface="Malgun Gothic"/>
                <a:ea typeface="Malgun Gothic"/>
              </a:rPr>
              <a:t>★ 사이트 오픈: 2월 초  |  3주 한시 운영 후 종료·아카이브 박제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>
                <a:solidFill>
                  <a:srgbClr val="6A6F7A"/>
                </a:solidFill>
                <a:latin typeface="Malgun Gothic"/>
                <a:ea typeface="Malgun Gothic"/>
              </a:rPr>
              <a:t>Go PC90s · PC통신 재현 프로젝트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>
                <a:solidFill>
                  <a:srgbClr val="2E323B"/>
                </a:solidFill>
                <a:latin typeface="Malgun Gothic"/>
                <a:ea typeface="Malgun Gothic"/>
              </a:rPr>
              <a:t>10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47548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>
                <a:solidFill>
                  <a:srgbClr val="1E3BD6"/>
                </a:solidFill>
                <a:latin typeface="Malgun Gothic"/>
                <a:ea typeface="Malgun Gothic"/>
              </a:rPr>
              <a:t>소요 예산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315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>
                <a:solidFill>
                  <a:srgbClr val="15171C"/>
                </a:solidFill>
                <a:latin typeface="Malgun Gothic"/>
                <a:ea typeface="Malgun Gothic"/>
              </a:rPr>
              <a:t>반외주 · 운영 직접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572768"/>
            <a:ext cx="10515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오픈소스</a:t>
            </a:r>
            <a:r>
              <a:rPr sz="1100" b="0" dirty="0">
                <a:solidFill>
                  <a:srgbClr val="6A6F7A"/>
                </a:solidFill>
                <a:latin typeface="나눔스퀘어"/>
                <a:ea typeface="나눔스퀘어"/>
              </a:rPr>
              <a:t> </a:t>
            </a:r>
            <a:r>
              <a:rPr sz="11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게시판</a:t>
            </a:r>
            <a:r>
              <a:rPr sz="1100" b="0" dirty="0">
                <a:solidFill>
                  <a:srgbClr val="6A6F7A"/>
                </a:solidFill>
                <a:latin typeface="나눔스퀘어"/>
                <a:ea typeface="나눔스퀘어"/>
              </a:rPr>
              <a:t> + </a:t>
            </a:r>
            <a:r>
              <a:rPr sz="11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디자인</a:t>
            </a:r>
            <a:r>
              <a:rPr sz="1100" b="0" dirty="0">
                <a:solidFill>
                  <a:srgbClr val="6A6F7A"/>
                </a:solidFill>
                <a:latin typeface="나눔스퀘어"/>
                <a:ea typeface="나눔스퀘어"/>
              </a:rPr>
              <a:t> </a:t>
            </a:r>
            <a:r>
              <a:rPr sz="11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외주</a:t>
            </a:r>
            <a:r>
              <a:rPr sz="1100" b="0" dirty="0">
                <a:solidFill>
                  <a:srgbClr val="6A6F7A"/>
                </a:solidFill>
                <a:latin typeface="나눔스퀘어"/>
                <a:ea typeface="나눔스퀘어"/>
              </a:rPr>
              <a:t> + </a:t>
            </a:r>
            <a:r>
              <a:rPr sz="11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핵심</a:t>
            </a:r>
            <a:r>
              <a:rPr sz="1100" b="0" dirty="0">
                <a:solidFill>
                  <a:srgbClr val="6A6F7A"/>
                </a:solidFill>
                <a:latin typeface="나눔스퀘어"/>
                <a:ea typeface="나눔스퀘어"/>
              </a:rPr>
              <a:t> </a:t>
            </a:r>
            <a:r>
              <a:rPr sz="11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연출</a:t>
            </a:r>
            <a:r>
              <a:rPr sz="1100" b="0" dirty="0">
                <a:solidFill>
                  <a:srgbClr val="6A6F7A"/>
                </a:solidFill>
                <a:latin typeface="나눔스퀘어"/>
                <a:ea typeface="나눔스퀘어"/>
              </a:rPr>
              <a:t> </a:t>
            </a:r>
            <a:r>
              <a:rPr sz="11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별도</a:t>
            </a:r>
            <a:r>
              <a:rPr sz="1100" b="0" dirty="0">
                <a:solidFill>
                  <a:srgbClr val="6A6F7A"/>
                </a:solidFill>
                <a:latin typeface="나눔스퀘어"/>
                <a:ea typeface="나눔스퀘어"/>
              </a:rPr>
              <a:t> </a:t>
            </a:r>
            <a:r>
              <a:rPr sz="11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제작</a:t>
            </a:r>
            <a:r>
              <a:rPr sz="1100" b="0" dirty="0">
                <a:solidFill>
                  <a:srgbClr val="6A6F7A"/>
                </a:solidFill>
                <a:latin typeface="나눔스퀘어"/>
                <a:ea typeface="나눔스퀘어"/>
              </a:rPr>
              <a:t> · </a:t>
            </a:r>
            <a:r>
              <a:rPr sz="11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운영은</a:t>
            </a:r>
            <a:r>
              <a:rPr sz="1100" b="0" dirty="0">
                <a:solidFill>
                  <a:srgbClr val="6A6F7A"/>
                </a:solidFill>
                <a:latin typeface="나눔스퀘어"/>
                <a:ea typeface="나눔스퀘어"/>
              </a:rPr>
              <a:t> </a:t>
            </a:r>
            <a:r>
              <a:rPr sz="11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내부</a:t>
            </a:r>
            <a:r>
              <a:rPr sz="1100" b="0" dirty="0">
                <a:solidFill>
                  <a:srgbClr val="6A6F7A"/>
                </a:solidFill>
                <a:latin typeface="나눔스퀘어"/>
                <a:ea typeface="나눔스퀘어"/>
              </a:rPr>
              <a:t> · </a:t>
            </a:r>
            <a:r>
              <a:rPr sz="11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금액은</a:t>
            </a:r>
            <a:r>
              <a:rPr sz="1100" b="0" dirty="0">
                <a:solidFill>
                  <a:srgbClr val="6A6F7A"/>
                </a:solidFill>
                <a:latin typeface="나눔스퀘어"/>
                <a:ea typeface="나눔스퀘어"/>
              </a:rPr>
              <a:t> </a:t>
            </a:r>
            <a:r>
              <a:rPr sz="11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견적</a:t>
            </a:r>
            <a:r>
              <a:rPr sz="1100" b="0" dirty="0">
                <a:solidFill>
                  <a:srgbClr val="6A6F7A"/>
                </a:solidFill>
                <a:latin typeface="나눔스퀘어"/>
                <a:ea typeface="나눔스퀘어"/>
              </a:rPr>
              <a:t> 전 </a:t>
            </a:r>
            <a:r>
              <a:rPr sz="11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추정</a:t>
            </a:r>
            <a:r>
              <a:rPr sz="1100" b="0" dirty="0">
                <a:solidFill>
                  <a:srgbClr val="6A6F7A"/>
                </a:solidFill>
                <a:latin typeface="나눔스퀘어"/>
                <a:ea typeface="나눔스퀘어"/>
              </a:rPr>
              <a:t> </a:t>
            </a:r>
            <a:r>
              <a:rPr sz="11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범위</a:t>
            </a:r>
            <a:endParaRPr sz="1100" b="0" dirty="0">
              <a:solidFill>
                <a:srgbClr val="6A6F7A"/>
              </a:solidFill>
              <a:latin typeface="나눔스퀘어"/>
              <a:ea typeface="나눔스퀘어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9716051"/>
              </p:ext>
            </p:extLst>
          </p:nvPr>
        </p:nvGraphicFramePr>
        <p:xfrm>
          <a:off x="758952" y="2057400"/>
          <a:ext cx="10515600" cy="3529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항목</a:t>
                      </a:r>
                      <a:endParaRPr sz="1300" b="1" dirty="0">
                        <a:solidFill>
                          <a:srgbClr val="FFFFFF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64008" marR="45720" marT="18288" marB="18288" anchor="ctr">
                    <a:solidFill>
                      <a:srgbClr val="1517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내용</a:t>
                      </a:r>
                      <a:endParaRPr sz="1300" b="1" dirty="0">
                        <a:solidFill>
                          <a:srgbClr val="FFFFFF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64008" marR="45720" marT="18288" marB="18288" anchor="ctr">
                    <a:solidFill>
                      <a:srgbClr val="1517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추정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범위</a:t>
                      </a:r>
                      <a:endParaRPr sz="1300" b="1" dirty="0">
                        <a:solidFill>
                          <a:srgbClr val="FFFFFF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64008" marR="45720" marT="18288" marB="18288" anchor="ctr">
                    <a:solidFill>
                      <a:srgbClr val="1517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비고</a:t>
                      </a:r>
                      <a:endParaRPr sz="1300" b="1" dirty="0">
                        <a:solidFill>
                          <a:srgbClr val="FFFFFF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64008" marR="45720" marT="18288" marB="18288" anchor="ctr">
                    <a:solidFill>
                      <a:srgbClr val="1517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5171C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사이트 개발</a:t>
                      </a:r>
                    </a:p>
                  </a:txBody>
                  <a:tcPr marL="64008" marR="45720" marT="18288" marB="18288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오픈소스</a:t>
                      </a:r>
                      <a:r>
                        <a:rPr sz="1300" dirty="0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게시판</a:t>
                      </a:r>
                      <a:r>
                        <a:rPr sz="1300" dirty="0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그누보드</a:t>
                      </a:r>
                      <a:r>
                        <a:rPr sz="1300" dirty="0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등)에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PC통신</a:t>
                      </a:r>
                      <a:r>
                        <a:rPr sz="1300" dirty="0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스킨</a:t>
                      </a:r>
                      <a:r>
                        <a:rPr sz="1300" dirty="0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,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게시판·동호회·프로필</a:t>
                      </a:r>
                      <a:r>
                        <a:rPr sz="1300" dirty="0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구현</a:t>
                      </a:r>
                      <a:endParaRPr sz="1300" dirty="0">
                        <a:solidFill>
                          <a:srgbClr val="2E323B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1E3BD6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500만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반외주. 기능 범위에 따라 변동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5171C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핵심 연출 제작</a:t>
                      </a:r>
                    </a:p>
                  </a:txBody>
                  <a:tcPr marL="64008" marR="45720" marT="18288" marB="18288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접속 시퀀스(이름·암호→전화걸기→연결→안내문), 도스모드 UI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sz="950" b="1" dirty="0">
                        <a:solidFill>
                          <a:srgbClr val="1E3BD6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개발과 묶거나 분리 발주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5171C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모뎀음·사운드</a:t>
                      </a:r>
                    </a:p>
                  </a:txBody>
                  <a:tcPr marL="64008" marR="45720" marT="18288" marB="18288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접속음 직접 녹음·제작 (저작권 안전)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1E3BD6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-</a:t>
                      </a:r>
                      <a:endParaRPr sz="1300" b="1" dirty="0">
                        <a:solidFill>
                          <a:srgbClr val="1E3BD6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구매 음원 시 라이선스 확인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5171C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호스팅·서버</a:t>
                      </a:r>
                    </a:p>
                  </a:txBody>
                  <a:tcPr marL="64008" marR="45720" marT="18288" marB="18288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준비·테스트~3주 운영. 트래픽 몰림 대비 여유 필요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1E3BD6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월 10만~50만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종료 후 아카이브는 월 몇만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5171C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도메인</a:t>
                      </a:r>
                    </a:p>
                  </a:txBody>
                  <a:tcPr marL="64008" marR="45720" marT="18288" marB="18288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예: gopc90s.co.kr (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최소</a:t>
                      </a:r>
                      <a:r>
                        <a:rPr sz="1300" dirty="0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1년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단위</a:t>
                      </a:r>
                      <a:r>
                        <a:rPr sz="1300" dirty="0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E3BD6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연 1만~3만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프리미엄 도메인 제외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5171C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법무·자문</a:t>
                      </a:r>
                    </a:p>
                  </a:txBody>
                  <a:tcPr marL="64008" marR="45720" marT="18288" marB="18288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개인정보·저작권 1회 상담 (실명가입 관련 필수)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1E3BD6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-</a:t>
                      </a:r>
                      <a:endParaRPr sz="1300" b="1" dirty="0">
                        <a:solidFill>
                          <a:srgbClr val="1E3BD6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약관·처리방침 작성 시 추가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15171C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운영</a:t>
                      </a:r>
                      <a:r>
                        <a:rPr sz="1300" b="1" dirty="0">
                          <a:solidFill>
                            <a:srgbClr val="15171C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15171C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인력</a:t>
                      </a:r>
                      <a:endParaRPr sz="1300" b="1" dirty="0">
                        <a:solidFill>
                          <a:srgbClr val="15171C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64008" marR="45720" marT="18288" marB="18288" anchor="ctr"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PD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직접</a:t>
                      </a:r>
                      <a:r>
                        <a:rPr sz="1300" dirty="0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운영</a:t>
                      </a:r>
                      <a:r>
                        <a:rPr sz="1300" dirty="0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→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외부</a:t>
                      </a:r>
                      <a:r>
                        <a:rPr sz="1300" dirty="0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인건비</a:t>
                      </a:r>
                      <a:r>
                        <a:rPr sz="1300" dirty="0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1E3BD6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sz="1300" b="1" dirty="0" err="1">
                          <a:solidFill>
                            <a:srgbClr val="1E3BD6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내부</a:t>
                      </a:r>
                      <a:r>
                        <a:rPr sz="1300" b="1" dirty="0">
                          <a:solidFill>
                            <a:srgbClr val="1E3BD6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3주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상시</a:t>
                      </a:r>
                      <a:r>
                        <a:rPr sz="1300" dirty="0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</a:t>
                      </a:r>
                      <a:r>
                        <a:rPr sz="1300" dirty="0" err="1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모니터링</a:t>
                      </a:r>
                      <a:r>
                        <a:rPr sz="1300" dirty="0">
                          <a:solidFill>
                            <a:srgbClr val="2E323B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58952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>
                <a:solidFill>
                  <a:srgbClr val="6A6F7A"/>
                </a:solidFill>
                <a:latin typeface="Malgun Gothic"/>
                <a:ea typeface="Malgun Gothic"/>
              </a:rPr>
              <a:t>Go PC90s · PC통신 재현 프로젝트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>
                <a:solidFill>
                  <a:srgbClr val="2E323B"/>
                </a:solidFill>
                <a:latin typeface="Malgun Gothic"/>
                <a:ea typeface="Malgun Gothic"/>
              </a:rPr>
              <a:t>11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58952" y="47548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0">
                <a:solidFill>
                  <a:srgbClr val="1E3BD6"/>
                </a:solidFill>
                <a:latin typeface="Malgun Gothic"/>
                <a:ea typeface="Malgun Gothic"/>
              </a:rPr>
              <a:t>법적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31520"/>
            <a:ext cx="105156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1" dirty="0" err="1">
                <a:solidFill>
                  <a:srgbClr val="15171C"/>
                </a:solidFill>
                <a:latin typeface="Malgun Gothic"/>
                <a:ea typeface="Malgun Gothic"/>
              </a:rPr>
              <a:t>실명가입·개인정보</a:t>
            </a:r>
            <a:endParaRPr sz="2000" b="1" dirty="0">
              <a:solidFill>
                <a:srgbClr val="15171C"/>
              </a:solidFill>
              <a:latin typeface="Malgun Gothic"/>
              <a:ea typeface="Malgun Gothi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8952" y="1645920"/>
            <a:ext cx="10515600" cy="731520"/>
          </a:xfrm>
          <a:prstGeom prst="rect">
            <a:avLst/>
          </a:prstGeom>
          <a:solidFill>
            <a:srgbClr val="99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Malgun Gothic"/>
                <a:ea typeface="Malgun Gothic"/>
              </a:rPr>
              <a:t>⚠  실명가입은 상징이지만, 개인정보를 받는 순간 현행 개인정보보호법 적용 대상이 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4320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15171C"/>
                </a:solidFill>
                <a:latin typeface="Malgun Gothic"/>
                <a:ea typeface="Malgun Gothic"/>
              </a:rPr>
              <a:t>주민등록번호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743200"/>
            <a:ext cx="8138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2E323B"/>
                </a:solidFill>
                <a:latin typeface="나눔스퀘어"/>
                <a:ea typeface="나눔스퀘어"/>
              </a:rPr>
              <a:t>원칙적 수집·이용 금지로 알려짐. '실명가입 느낌'을 위해서라도 실제 주민번호는 받지 않고 이메일 인증만으로 진행.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70332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15171C"/>
                </a:solidFill>
                <a:latin typeface="Malgun Gothic"/>
                <a:ea typeface="Malgun Gothic"/>
              </a:rPr>
              <a:t>실명·개인정보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703320"/>
            <a:ext cx="8138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2E323B"/>
                </a:solidFill>
                <a:latin typeface="나눔스퀘어"/>
                <a:ea typeface="나눔스퀘어"/>
              </a:rPr>
              <a:t>이름·연락처를 실제 저장하면 수집목적 고지·보관·파기 등 법적 의무 발생. 프로젝트 규모 대비 부담 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466344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15171C"/>
                </a:solidFill>
                <a:latin typeface="Malgun Gothic"/>
                <a:ea typeface="Malgun Gothic"/>
              </a:rPr>
              <a:t>권장 방향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663440"/>
            <a:ext cx="8138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>
                <a:solidFill>
                  <a:srgbClr val="2E323B"/>
                </a:solidFill>
                <a:latin typeface="나눔스퀘어"/>
                <a:ea typeface="나눔스퀘어"/>
              </a:rPr>
              <a:t>닉네임 + (선택) 이메일만 수집. 입력란은 연출로만 두고, 민감정보 입력 않도록 안내 문구 배치.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5669279"/>
            <a:ext cx="10515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dirty="0">
                <a:solidFill>
                  <a:srgbClr val="6A6F7A"/>
                </a:solidFill>
                <a:latin typeface="나눔스퀘어"/>
                <a:ea typeface="나눔스퀘어"/>
              </a:rPr>
              <a:t>※ 위 </a:t>
            </a:r>
            <a:r>
              <a:rPr sz="10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내용은</a:t>
            </a:r>
            <a:r>
              <a:rPr sz="1000" b="0" dirty="0">
                <a:solidFill>
                  <a:srgbClr val="6A6F7A"/>
                </a:solidFill>
                <a:latin typeface="나눔스퀘어"/>
                <a:ea typeface="나눔스퀘어"/>
              </a:rPr>
              <a:t> </a:t>
            </a:r>
            <a:r>
              <a:rPr sz="10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조사·일반</a:t>
            </a:r>
            <a:r>
              <a:rPr sz="1000" b="0" dirty="0">
                <a:solidFill>
                  <a:srgbClr val="6A6F7A"/>
                </a:solidFill>
                <a:latin typeface="나눔스퀘어"/>
                <a:ea typeface="나눔스퀘어"/>
              </a:rPr>
              <a:t> </a:t>
            </a:r>
            <a:r>
              <a:rPr sz="10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상식</a:t>
            </a:r>
            <a:r>
              <a:rPr sz="1000" b="0" dirty="0">
                <a:solidFill>
                  <a:srgbClr val="6A6F7A"/>
                </a:solidFill>
                <a:latin typeface="나눔스퀘어"/>
                <a:ea typeface="나눔스퀘어"/>
              </a:rPr>
              <a:t> </a:t>
            </a:r>
            <a:r>
              <a:rPr sz="10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수준의</a:t>
            </a:r>
            <a:r>
              <a:rPr sz="1000" b="0" dirty="0">
                <a:solidFill>
                  <a:srgbClr val="6A6F7A"/>
                </a:solidFill>
                <a:latin typeface="나눔스퀘어"/>
                <a:ea typeface="나눔스퀘어"/>
              </a:rPr>
              <a:t> </a:t>
            </a:r>
            <a:r>
              <a:rPr sz="10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정리</a:t>
            </a:r>
            <a:r>
              <a:rPr lang="ko-KR" altLang="en-US" sz="1000" dirty="0">
                <a:solidFill>
                  <a:srgbClr val="6A6F7A"/>
                </a:solidFill>
                <a:latin typeface="나눔스퀘어"/>
                <a:ea typeface="나눔스퀘어"/>
              </a:rPr>
              <a:t>로</a:t>
            </a:r>
            <a:r>
              <a:rPr sz="1000" b="0" dirty="0">
                <a:solidFill>
                  <a:srgbClr val="6A6F7A"/>
                </a:solidFill>
                <a:latin typeface="나눔스퀘어"/>
                <a:ea typeface="나눔스퀘어"/>
              </a:rPr>
              <a:t> </a:t>
            </a:r>
            <a:r>
              <a:rPr lang="ko-KR" altLang="en-US" sz="1000" dirty="0">
                <a:solidFill>
                  <a:srgbClr val="6A6F7A"/>
                </a:solidFill>
                <a:latin typeface="나눔스퀘어"/>
                <a:ea typeface="나눔스퀘어"/>
              </a:rPr>
              <a:t>실행 전 </a:t>
            </a:r>
            <a:r>
              <a:rPr sz="10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법령</a:t>
            </a:r>
            <a:r>
              <a:rPr sz="1000" b="0" dirty="0">
                <a:solidFill>
                  <a:srgbClr val="6A6F7A"/>
                </a:solidFill>
                <a:latin typeface="나눔스퀘어"/>
                <a:ea typeface="나눔스퀘어"/>
              </a:rPr>
              <a:t> </a:t>
            </a:r>
            <a:r>
              <a:rPr sz="10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원문</a:t>
            </a:r>
            <a:r>
              <a:rPr sz="1000" b="0" dirty="0">
                <a:solidFill>
                  <a:srgbClr val="6A6F7A"/>
                </a:solidFill>
                <a:latin typeface="나눔스퀘어"/>
                <a:ea typeface="나눔스퀘어"/>
              </a:rPr>
              <a:t> </a:t>
            </a:r>
            <a:r>
              <a:rPr sz="10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확인</a:t>
            </a:r>
            <a:r>
              <a:rPr sz="1000" b="0" dirty="0">
                <a:solidFill>
                  <a:srgbClr val="6A6F7A"/>
                </a:solidFill>
                <a:latin typeface="나눔스퀘어"/>
                <a:ea typeface="나눔스퀘어"/>
              </a:rPr>
              <a:t> </a:t>
            </a:r>
            <a:r>
              <a:rPr sz="10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또는</a:t>
            </a:r>
            <a:r>
              <a:rPr sz="1000" b="0" dirty="0">
                <a:solidFill>
                  <a:srgbClr val="6A6F7A"/>
                </a:solidFill>
                <a:latin typeface="나눔스퀘어"/>
                <a:ea typeface="나눔스퀘어"/>
              </a:rPr>
              <a:t> </a:t>
            </a:r>
            <a:r>
              <a:rPr sz="10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전문가</a:t>
            </a:r>
            <a:r>
              <a:rPr sz="1000" b="0" dirty="0">
                <a:solidFill>
                  <a:srgbClr val="6A6F7A"/>
                </a:solidFill>
                <a:latin typeface="나눔스퀘어"/>
                <a:ea typeface="나눔스퀘어"/>
              </a:rPr>
              <a:t>(</a:t>
            </a:r>
            <a:r>
              <a:rPr sz="10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변호사·개인정보</a:t>
            </a:r>
            <a:r>
              <a:rPr sz="1000" b="0" dirty="0">
                <a:solidFill>
                  <a:srgbClr val="6A6F7A"/>
                </a:solidFill>
                <a:latin typeface="나눔스퀘어"/>
                <a:ea typeface="나눔스퀘어"/>
              </a:rPr>
              <a:t> </a:t>
            </a:r>
            <a:r>
              <a:rPr sz="10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담당</a:t>
            </a:r>
            <a:r>
              <a:rPr sz="1000" b="0" dirty="0">
                <a:solidFill>
                  <a:srgbClr val="6A6F7A"/>
                </a:solidFill>
                <a:latin typeface="나눔스퀘어"/>
                <a:ea typeface="나눔스퀘어"/>
              </a:rPr>
              <a:t>) </a:t>
            </a:r>
            <a:r>
              <a:rPr sz="10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자문</a:t>
            </a:r>
            <a:r>
              <a:rPr sz="1000" b="0" dirty="0">
                <a:solidFill>
                  <a:srgbClr val="6A6F7A"/>
                </a:solidFill>
                <a:latin typeface="나눔스퀘어"/>
                <a:ea typeface="나눔스퀘어"/>
              </a:rPr>
              <a:t> </a:t>
            </a:r>
            <a:r>
              <a:rPr sz="1000" b="0" dirty="0" err="1">
                <a:solidFill>
                  <a:srgbClr val="6A6F7A"/>
                </a:solidFill>
                <a:latin typeface="나눔스퀘어"/>
                <a:ea typeface="나눔스퀘어"/>
              </a:rPr>
              <a:t>필수</a:t>
            </a:r>
            <a:r>
              <a:rPr sz="1000" b="0" dirty="0">
                <a:solidFill>
                  <a:srgbClr val="6A6F7A"/>
                </a:solidFill>
                <a:latin typeface="나눔스퀘어"/>
                <a:ea typeface="나눔스퀘어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6355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750" b="0">
                <a:solidFill>
                  <a:srgbClr val="6A6F7A"/>
                </a:solidFill>
                <a:latin typeface="Malgun Gothic"/>
                <a:ea typeface="Malgun Gothic"/>
              </a:rPr>
              <a:t>Go PC90s · PC통신 재현 프로젝트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>
                <a:solidFill>
                  <a:srgbClr val="2E323B"/>
                </a:solidFill>
                <a:latin typeface="Malgun Gothic"/>
                <a:ea typeface="Malgun Gothic"/>
              </a:rPr>
              <a:t>08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1429</Words>
  <Application>Microsoft Office PowerPoint</Application>
  <PresentationFormat>와이드스크린</PresentationFormat>
  <Paragraphs>241</Paragraphs>
  <Slides>11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나눔스퀘어</vt:lpstr>
      <vt:lpstr>나눔스퀘어 ExtraBold</vt:lpstr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kyungpyo ko</cp:lastModifiedBy>
  <cp:revision>23</cp:revision>
  <dcterms:created xsi:type="dcterms:W3CDTF">2013-01-27T09:14:16Z</dcterms:created>
  <dcterms:modified xsi:type="dcterms:W3CDTF">2026-10-29T08:14:00Z</dcterms:modified>
  <cp:category/>
</cp:coreProperties>
</file>